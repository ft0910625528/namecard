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88952" cy="2011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複合市集升級方案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66BB6A"/>
                </a:solidFill>
              </a:rPr>
              <a:t>攤位出租制 ＋ 二樓複合空間 可行性評估報告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2286000"/>
            <a:ext cx="5788152" cy="54864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468880"/>
            <a:ext cx="2011680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🥦 一樓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436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E082"/>
                </a:solidFill>
              </a:rPr>
              <a:t>8攤×3坪
特約出租加盟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15768" y="2468880"/>
            <a:ext cx="2011680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7208" y="2514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✂ 二樓A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7208" y="294436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E082"/>
                </a:solidFill>
              </a:rPr>
              <a:t>快剪髮廊
高頻導客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4336" y="2468880"/>
            <a:ext cx="2011680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2514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👜 二樓B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294436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E082"/>
                </a:solidFill>
              </a:rPr>
              <a:t>精品/飾品
客單價提升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32904" y="2468880"/>
            <a:ext cx="2011680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24344" y="2514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📚 二樓C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4344" y="294436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E082"/>
                </a:solidFill>
              </a:rPr>
              <a:t>讀書室
訂閱穩定收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91472" y="2468880"/>
            <a:ext cx="2011680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82912" y="2514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🏠 二樓D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82912" y="294436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E082"/>
                </a:solidFill>
              </a:rPr>
              <a:t>老人會館
社區深根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8862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E6C9"/>
                </a:solidFill>
              </a:rPr>
              <a:t>平鎮區平德路 271 號｜總空間規劃評估｜2026年5月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6355080"/>
            <a:ext cx="12188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CONFIDENTIAL  ·  僅供內部決策使用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商業模式升級概念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</a:rPr>
              <a:t>從「單店自營」升級為「複合市集+多功能樓層」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5303520" cy="384048"/>
          </a:xfrm>
          <a:prstGeom prst="rect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247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❌ 原方案：單一自營蔬果店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530352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5727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● 自營一家蔬果+熟食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84248"/>
            <a:ext cx="530352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20482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● 全部風險自行承擔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59736"/>
            <a:ext cx="530352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252374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● 月需營收53-65萬才損益平衡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35224"/>
            <a:ext cx="530352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29992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● 靠自身客流，競爭壓力大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7568" y="251460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7F17"/>
                </a:solidFill>
              </a:rPr>
              <a:t>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097280"/>
            <a:ext cx="5303520" cy="38404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11247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✅ 升級方案：複合市集+複合樓層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508760"/>
            <a:ext cx="5303520" cy="457200"/>
          </a:xfrm>
          <a:prstGeom prst="rect">
            <a:avLst/>
          </a:prstGeom>
          <a:solidFill>
            <a:srgbClr val="F9FBE7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5727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5E20"/>
                </a:solidFill>
              </a:rPr>
              <a:t>✔ 1F：自營主攤＋8個攤位出租，租金分擔風險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984248"/>
            <a:ext cx="5303520" cy="457200"/>
          </a:xfrm>
          <a:prstGeom prst="rect">
            <a:avLst/>
          </a:prstGeom>
          <a:solidFill>
            <a:srgbClr val="F9FBE7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2" y="20482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5E20"/>
                </a:solidFill>
              </a:rPr>
              <a:t>✔ 2F：快剪/精品/讀書室/老人會館，多元收益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459736"/>
            <a:ext cx="5303520" cy="457200"/>
          </a:xfrm>
          <a:prstGeom prst="rect">
            <a:avLst/>
          </a:prstGeom>
          <a:solidFill>
            <a:srgbClr val="F9FBE7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48272" y="252374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5E20"/>
                </a:solidFill>
              </a:rPr>
              <a:t>✔ 多業態共同引流，提升來客次數與停留時間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2935224"/>
            <a:ext cx="5303520" cy="457200"/>
          </a:xfrm>
          <a:prstGeom prst="rect">
            <a:avLst/>
          </a:prstGeom>
          <a:solidFill>
            <a:srgbClr val="F9FBE7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8272" y="29992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5E20"/>
                </a:solidFill>
              </a:rPr>
              <a:t>✔ 損益平衡門檻大幅降低，風險可控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520440"/>
            <a:ext cx="11521440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5478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升級方案三大核心價值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977639"/>
            <a:ext cx="2807208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977639"/>
            <a:ext cx="2807208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406908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</a:rPr>
              <a:t>💰 風險分散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4480560"/>
            <a:ext cx="2606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242"/>
                </a:solidFill>
              </a:rPr>
              <a:t>攤位租金收入每月可達
NT$5-8萬，降低損益壓力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18688" y="3977639"/>
            <a:ext cx="2807208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18688" y="3977639"/>
            <a:ext cx="2807208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28416" y="406908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</a:rPr>
              <a:t>🚶 人流共享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28416" y="4480560"/>
            <a:ext cx="2606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242"/>
                </a:solidFill>
              </a:rPr>
              <a:t>多業態吸引不同族群
（長輩/學生/上班族）匯聚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63056" y="3977639"/>
            <a:ext cx="2807208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63056" y="3977639"/>
            <a:ext cx="2807208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2784" y="406908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</a:rPr>
              <a:t>🏘️ 社區定錨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4" y="4480560"/>
            <a:ext cx="2606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242"/>
                </a:solidFill>
              </a:rPr>
              <a:t>讀書室+老人會館形成
社區日常據點，忠誠黏著度高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07424" y="3977639"/>
            <a:ext cx="2807208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07424" y="3977639"/>
            <a:ext cx="2807208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17152" y="406908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</a:rPr>
              <a:t>📈 坪效提升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4480560"/>
            <a:ext cx="2606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242"/>
                </a:solidFill>
              </a:rPr>
              <a:t>一樓+二樓雙層運用
整體收益遠超單層自營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6492240"/>
            <a:ext cx="11521440" cy="25603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10528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關鍵前提：需確認是否有二樓空間（自有或可租用）；若為純一樓50坪，則僅適用一樓攤位方案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一樓空間規劃｜50坪攤位配置設計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</a:rPr>
              <a:t>3坪×8攤 特約出租加盟制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6858000" cy="5394960"/>
          </a:xfrm>
          <a:prstGeom prst="rect">
            <a:avLst/>
          </a:prstGeom>
          <a:solidFill>
            <a:srgbClr val="F9FBE7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E20"/>
                </a:solidFill>
              </a:rPr>
              <a:t>【 一樓平面示意圖 — 50坪 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1463040" cy="1325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64792"/>
            <a:ext cx="1371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攤位①
蔬菜類
3坪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1627632"/>
            <a:ext cx="1463040" cy="1325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64792"/>
            <a:ext cx="1371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攤位②
水果類
3坪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1627632"/>
            <a:ext cx="1463040" cy="1325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764792"/>
            <a:ext cx="1371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攤位③
豆腐蛋品
3坪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080" y="1627632"/>
            <a:ext cx="1463040" cy="13258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1764792"/>
            <a:ext cx="1371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攤位④
海鮮生鮮
3坪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090672"/>
            <a:ext cx="1463040" cy="132588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27832"/>
            <a:ext cx="1371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攤位⑤
熟食便當
3坪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3090672"/>
            <a:ext cx="1463040" cy="132588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57400" y="3227832"/>
            <a:ext cx="1371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攤位⑥
滷味/小菜
3坪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11880" y="3090672"/>
            <a:ext cx="1463040" cy="1325880"/>
          </a:xfrm>
          <a:prstGeom prst="rect">
            <a:avLst/>
          </a:prstGeom>
          <a:solidFill>
            <a:srgbClr val="006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3227832"/>
            <a:ext cx="1371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攤位⑦
有機/乾貨
3坪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12080" y="3090672"/>
            <a:ext cx="1463040" cy="13258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800" y="3227832"/>
            <a:ext cx="1371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攤位⑧
自由業態
3坪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572000"/>
            <a:ext cx="14630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45152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2121"/>
                </a:solidFill>
              </a:rPr>
              <a:t>冷藏儲存
4坪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4572000"/>
            <a:ext cx="14630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4645152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2121"/>
                </a:solidFill>
              </a:rPr>
              <a:t>結帳/服務台
3坪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11880" y="4572000"/>
            <a:ext cx="14630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0" y="4645152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2121"/>
                </a:solidFill>
              </a:rPr>
              <a:t>走道/出入
(剩餘坪數)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559552"/>
            <a:ext cx="6858000" cy="89611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62356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出租攤位：24坪（8×3）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2356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冷藏倉儲：4坪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562356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結帳/服務：3坪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562356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走道/通道：約19坪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60920" y="1097280"/>
            <a:ext cx="45720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60920" y="1097280"/>
            <a:ext cx="4572000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79" y="112471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📋 攤位規格與條件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60920" y="1572768"/>
            <a:ext cx="4572000" cy="438912"/>
          </a:xfrm>
          <a:prstGeom prst="rect">
            <a:avLst/>
          </a:prstGeom>
          <a:solidFill>
            <a:srgbClr val="F9F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52360" y="166420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攤位坪數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23960" y="166420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每攤 3 坪（約 9.9 m²）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60920" y="2029967"/>
            <a:ext cx="45720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52360" y="212140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攤位數量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212140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共 8 攤（其中1攤自留主攤可選）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60920" y="2487168"/>
            <a:ext cx="4572000" cy="438912"/>
          </a:xfrm>
          <a:prstGeom prst="rect">
            <a:avLst/>
          </a:prstGeom>
          <a:solidFill>
            <a:srgbClr val="F9F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52360" y="257860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合約期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23960" y="257860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建議 6-12 個月，可續約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60920" y="2944368"/>
            <a:ext cx="45720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52360" y="303580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月租金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23960" y="303580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NT$8,000–12,000/攤（含水電）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60920" y="3401568"/>
            <a:ext cx="4572000" cy="438912"/>
          </a:xfrm>
          <a:prstGeom prst="rect">
            <a:avLst/>
          </a:prstGeom>
          <a:solidFill>
            <a:srgbClr val="F9F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52360" y="349300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押金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23960" y="349300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2 個月租金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60920" y="3858768"/>
            <a:ext cx="45720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52360" y="39502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公共設施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23960" y="39502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共用冷藏、收銀整合、廁所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60920" y="4315968"/>
            <a:ext cx="4572000" cy="438912"/>
          </a:xfrm>
          <a:prstGeom prst="rect">
            <a:avLst/>
          </a:prstGeom>
          <a:solidFill>
            <a:srgbClr val="F9F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52360" y="44074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管理規約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23960" y="44074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統一開關店時間（7-20時）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60920" y="4773168"/>
            <a:ext cx="45720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52360" y="48646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業態限制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23960" y="48646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不得重複業態，需互補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60920" y="5230368"/>
            <a:ext cx="4572000" cy="438912"/>
          </a:xfrm>
          <a:prstGeom prst="rect">
            <a:avLst/>
          </a:prstGeom>
          <a:solidFill>
            <a:srgbClr val="F9F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52360" y="53218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加盟條件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23960" y="53218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簽訂特約合作協議書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360920" y="5687568"/>
            <a:ext cx="45720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5236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退租規定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2396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提前30天通知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一樓攤位出租｜租金收益財務試算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</a:rPr>
              <a:t>穩定租金收入降低損益風險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406640" cy="4114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33856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攤位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3385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業態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13385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月租金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113385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押金(2月)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8" y="113385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年租金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13385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備註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536192"/>
            <a:ext cx="7406640" cy="512064"/>
          </a:xfrm>
          <a:prstGeom prst="rect">
            <a:avLst/>
          </a:prstGeom>
          <a:solidFill>
            <a:srgbClr val="F9F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645919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645919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新鮮蔬菜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1645919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10,000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1645919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20,000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1645919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120,000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1645919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主力客流攤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066543"/>
            <a:ext cx="740664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176272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217627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新鮮水果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2176272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10,000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312" y="2176272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20,000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4608" y="2176272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120,000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217627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主力客流攤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596896"/>
            <a:ext cx="7406640" cy="512064"/>
          </a:xfrm>
          <a:prstGeom prst="rect">
            <a:avLst/>
          </a:prstGeom>
          <a:solidFill>
            <a:srgbClr val="F9F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2706624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270662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豆腐蛋品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2706624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 8,000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9312" y="2706624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16,000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4608" y="2706624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 96,000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2706624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輔助商品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127248"/>
            <a:ext cx="740664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3236976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23697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海鮮/肉品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3236976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12,000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9312" y="3236976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24,000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64608" y="3236976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144,000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236976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高毛利業態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3657600"/>
            <a:ext cx="7406640" cy="512064"/>
          </a:xfrm>
          <a:prstGeom prst="rect">
            <a:avLst/>
          </a:prstGeom>
          <a:solidFill>
            <a:srgbClr val="F9F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376732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376732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熟食便當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767328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12,000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39312" y="3767328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24,000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64608" y="3767328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144,000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376732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高需求業態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187952"/>
            <a:ext cx="740664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0040" y="429768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" y="429768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滷味/小菜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23160" y="429768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 8,000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39312" y="429768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16,000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64608" y="429768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 96,000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297680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熟食配套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718303"/>
            <a:ext cx="7406640" cy="512064"/>
          </a:xfrm>
          <a:prstGeom prst="rect">
            <a:avLst/>
          </a:prstGeom>
          <a:solidFill>
            <a:srgbClr val="F9F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4828031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" y="4828031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有機/乾貨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23160" y="4828031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10,000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39312" y="4828031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20,000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64608" y="4828031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120,000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80760" y="4828031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差異化特色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5248655"/>
            <a:ext cx="740664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0040" y="5358383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⑧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" y="5358383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自由業態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23160" y="5358383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 8,000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39312" y="5358383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</a:rPr>
              <a:t>16,000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64608" y="5358383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 96,000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5358383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彈性招募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5788152"/>
            <a:ext cx="7406640" cy="47548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7472" y="58247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合計 (7攤出租)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23160" y="5824728"/>
            <a:ext cx="2999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7F17"/>
                </a:solidFill>
              </a:rPr>
              <a:t>NT$ 78,000 / 月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64608" y="582472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7F17"/>
                </a:solidFill>
              </a:rPr>
              <a:t>NT$ 936,000 / 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63840" y="1097280"/>
            <a:ext cx="4023360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863840" y="1097280"/>
            <a:ext cx="40233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955279" y="11887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24242"/>
                </a:solidFill>
              </a:rPr>
              <a:t>月租金收入（7攤）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1444752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5E20"/>
                </a:solidFill>
              </a:rPr>
              <a:t>NT$7.8萬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55279" y="190195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4242"/>
                </a:solidFill>
              </a:rPr>
              <a:t>穩定現金流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863840" y="2359152"/>
            <a:ext cx="4023360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863840" y="2359152"/>
            <a:ext cx="40233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955279" y="24505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24242"/>
                </a:solidFill>
              </a:rPr>
              <a:t>押金（一次收取）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955279" y="2706624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565C0"/>
                </a:solidFill>
              </a:rPr>
              <a:t>NT$15.6萬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955279" y="3163824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4242"/>
                </a:solidFill>
              </a:rPr>
              <a:t>等同1個月固定成本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63840" y="3621024"/>
            <a:ext cx="4023360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863840" y="3621024"/>
            <a:ext cx="40233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955279" y="3712463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24242"/>
                </a:solidFill>
              </a:rPr>
              <a:t>租金抵銷固定成本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55279" y="3968496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7F17"/>
                </a:solidFill>
              </a:rPr>
              <a:t>45%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955279" y="44256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4242"/>
                </a:solidFill>
              </a:rPr>
              <a:t>月固定成本17.2萬中的45%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63840" y="4882896"/>
            <a:ext cx="4023360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863840" y="4882896"/>
            <a:ext cx="40233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955279" y="497433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24242"/>
                </a:solidFill>
              </a:rPr>
              <a:t>自營損益平衡降至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955279" y="5230368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62828"/>
                </a:solidFill>
              </a:rPr>
              <a:t>NT$31萬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955279" y="56875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4242"/>
                </a:solidFill>
              </a:rPr>
              <a:t>（原需53-65萬）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4320" y="6373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24242"/>
                </a:solidFill>
              </a:rPr>
              <a:t>※ 第8攤保留為自留主攤（蔬果+管理區），實際出租7攤；租金含水電分攤，不另計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二樓複合空間｜四大業態規劃方案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</a:rPr>
              <a:t>精品 ／ 快剪 ／ 讀書室 ／ 老人會館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78992"/>
            <a:ext cx="2834640" cy="457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✂ 快剪髮廊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536192"/>
            <a:ext cx="2834640" cy="4754880"/>
          </a:xfrm>
          <a:prstGeom prst="rect">
            <a:avLst/>
          </a:prstGeom>
          <a:solidFill>
            <a:srgbClr val="E3F2FD"/>
          </a:solidFill>
          <a:ln w="1905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" y="1609344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📐 空間需求：10-15坪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2029968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👥 客層：全齡層，高頻消費（每月1-2次）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245059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💰 月租收益：NT$18,000–25,000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2871216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📊 導流效益：★★★★★ 最強（帶動一樓人流）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337560"/>
            <a:ext cx="2651760" cy="25603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355848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亮點優勢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3630168"/>
            <a:ext cx="26334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等待剪髮時可至一樓採買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客單周期短，月來客最穩定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快剪品牌加盟易尋（QB House等）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不需要大設備，裝潢成本低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68756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47A1"/>
                </a:solidFill>
              </a:rPr>
              <a:t>推薦指數：⭐⭐⭐⭐⭐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18688" y="1078992"/>
            <a:ext cx="2834640" cy="4572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097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👜 精品/飾品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18688" y="1536192"/>
            <a:ext cx="2834640" cy="4754880"/>
          </a:xfrm>
          <a:prstGeom prst="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28416" y="1609344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📐 空間需求：10-20坪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8416" y="2029968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👥 客層：25-45歲女性，重疊蔬果主客群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28416" y="245059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💰 月租收益：NT$12,000–20,000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28416" y="2871216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📊 導流效益：★★★ 中等（非每日到訪）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0128" y="3337560"/>
            <a:ext cx="2651760" cy="25603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3355848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亮點優勢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8416" y="3630168"/>
            <a:ext cx="26334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與蔬果店客群高度重疊（家庭主婦）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可引入飾品/家居小物/二手精品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假日人流增加顯著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客單價提升整體商圈形象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0128" y="568756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A1B9A"/>
                </a:solidFill>
              </a:rPr>
              <a:t>推薦指數：⭐⭐⭐⭐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8776" y="1078992"/>
            <a:ext cx="2834640" cy="457200"/>
          </a:xfrm>
          <a:prstGeom prst="rect">
            <a:avLst/>
          </a:prstGeom>
          <a:solidFill>
            <a:srgbClr val="006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0216" y="1097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📚 讀書室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8776" y="1536192"/>
            <a:ext cx="2834640" cy="4754880"/>
          </a:xfrm>
          <a:prstGeom prst="rect">
            <a:avLst/>
          </a:prstGeom>
          <a:solidFill>
            <a:srgbClr val="E0F2F1"/>
          </a:solidFill>
          <a:ln w="19050">
            <a:solidFill>
              <a:srgbClr val="006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8504" y="1609344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📐 空間需求：20-30坪，30席座位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2029968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👥 客層：學生族、自由工作者、備考族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8504" y="245059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💰 月租收益：NT$30,000–50,000（訂閱制）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18504" y="2871216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📊 導流效益：★★★ 固定客，長時間停留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0216" y="3337560"/>
            <a:ext cx="2651760" cy="256032"/>
          </a:xfrm>
          <a:prstGeom prst="rect">
            <a:avLst/>
          </a:prstGeom>
          <a:solidFill>
            <a:srgbClr val="006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3368" y="3355848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亮點優勢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3630168"/>
            <a:ext cx="26334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月費制：NT$800-1,500/人/月（穩定現金）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時段計費：NT$60-80/小時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自習需求在平鎮青年族群高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可提供飲料/蔬果汁加值服務（連結一樓）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216" y="568756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6964"/>
                </a:solidFill>
              </a:rPr>
              <a:t>推薦指數：⭐⭐⭐⭐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98864" y="1078992"/>
            <a:ext cx="2834640" cy="45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90304" y="1097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🏠 老人會館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98864" y="1536192"/>
            <a:ext cx="2834640" cy="4754880"/>
          </a:xfrm>
          <a:prstGeom prst="rect">
            <a:avLst/>
          </a:prstGeom>
          <a:solidFill>
            <a:srgbClr val="F9FBE7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08592" y="1609344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📐 空間需求：30-40坪，含活動空間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08592" y="2029968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👥 客層：60歲以上長輩，社區黏著度最高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08592" y="245059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💰 月租收益：NT$5,000–15,000（或申請補助）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08592" y="2871216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📊 導流效益：★★★★ 強（長輩每日買菜需求）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90304" y="3337560"/>
            <a:ext cx="2651760" cy="25603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63456" y="3355848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亮點優勢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08592" y="3630168"/>
            <a:ext cx="26334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可申請桃園市長照/社造補助降低成本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長輩為蔬果店最忠實購買族群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提升社區形象，建立品牌口碑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212121"/>
                </a:solidFill>
              </a:rPr>
              <a:t>◆ 提供量血壓、下棋、健康講座等活動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90304" y="568756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推薦指數：⭐⭐⭐⭐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二樓最佳組合方案推薦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</a:rPr>
              <a:t>依空間大小與目標選擇最適業態組合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2103120" cy="16916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26187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方案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755648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82"/>
                </a:solidFill>
              </a:rPr>
              <a:t>快剪 ＋ 讀書室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1097280"/>
            <a:ext cx="9144000" cy="1691640"/>
          </a:xfrm>
          <a:prstGeom prst="rect">
            <a:avLst/>
          </a:prstGeom>
          <a:solidFill>
            <a:srgbClr val="F9FBE7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42032" y="115214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24242"/>
                </a:solidFill>
              </a:rPr>
              <a:t>適用空間：40-50坪二樓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50592" y="1444752"/>
            <a:ext cx="6858000" cy="25603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87168" y="1463040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業態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46304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坪數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2" y="1463040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月租金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4768" y="1463040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功能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50592" y="1719072"/>
            <a:ext cx="68580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1764792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快剪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1764792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15坪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2" y="1764792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B5E20"/>
                </a:solidFill>
              </a:rPr>
              <a:t>NT$20,000/月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1764792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最強導流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50592" y="2020824"/>
            <a:ext cx="685800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87168" y="2066543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讀書室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2066543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25坪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2066543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B5E20"/>
                </a:solidFill>
              </a:rPr>
              <a:t>NT$35,000/月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2066543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穩定訂閱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50592" y="2322576"/>
            <a:ext cx="68580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236829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走道廁所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236829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10坪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2" y="236829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2368296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公共設施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150876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月租金合計：約 NT$55,000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50592" y="2468880"/>
            <a:ext cx="9052560" cy="2743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2487168"/>
            <a:ext cx="8869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★ 最推薦：快剪帶人流，讀書室帶固定客，雙業態互補性最強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2944368"/>
            <a:ext cx="2103120" cy="1691640"/>
          </a:xfrm>
          <a:prstGeom prst="rect">
            <a:avLst/>
          </a:prstGeom>
          <a:solidFill>
            <a:srgbClr val="006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310896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方案 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" y="3602735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82"/>
                </a:solidFill>
              </a:rPr>
              <a:t>老人會館 ＋ 快剪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23160" y="2944368"/>
            <a:ext cx="9144000" cy="1691640"/>
          </a:xfrm>
          <a:prstGeom prst="rect">
            <a:avLst/>
          </a:prstGeom>
          <a:solidFill>
            <a:srgbClr val="F9FBE7"/>
          </a:solidFill>
          <a:ln w="19050">
            <a:solidFill>
              <a:srgbClr val="006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2032" y="29992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24242"/>
                </a:solidFill>
              </a:rPr>
              <a:t>適用空間：40-50坪二樓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50592" y="3291839"/>
            <a:ext cx="6858000" cy="256032"/>
          </a:xfrm>
          <a:prstGeom prst="rect">
            <a:avLst/>
          </a:prstGeom>
          <a:solidFill>
            <a:srgbClr val="006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87168" y="3310127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業態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94760" y="3310127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坪數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28032" y="3310127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月租金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4768" y="3310127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功能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0592" y="3566160"/>
            <a:ext cx="68580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87168" y="3611879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老人會館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94760" y="3611879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30坪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28032" y="3611879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B5E20"/>
                </a:solidFill>
              </a:rPr>
              <a:t>NT$8,000+補助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44768" y="3611879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社區定錨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50592" y="3867911"/>
            <a:ext cx="685800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87168" y="3913631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快剪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94760" y="3913631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10坪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28032" y="3913631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B5E20"/>
                </a:solidFill>
              </a:rPr>
              <a:t>NT$15,000/月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1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導流長輩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50592" y="4169663"/>
            <a:ext cx="68580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87168" y="4215383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走道廁所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4760" y="4215383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10坪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28032" y="4215383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44768" y="4215383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公共設施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45168" y="3355848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6964"/>
                </a:solidFill>
              </a:rPr>
              <a:t>月租金合計：約 NT$23,000（另有補助可申請）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50592" y="4315968"/>
            <a:ext cx="9052560" cy="274320"/>
          </a:xfrm>
          <a:prstGeom prst="rect">
            <a:avLst/>
          </a:prstGeom>
          <a:solidFill>
            <a:srgbClr val="006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42032" y="4334256"/>
            <a:ext cx="8869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★ 社區型定位：強化社區形象，長輩每日消費蔬果，適合重社區連結的業主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4791456"/>
            <a:ext cx="2103120" cy="16916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7472" y="4956048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方案 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7472" y="5449824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82"/>
                </a:solidFill>
              </a:rPr>
              <a:t>精品 ＋ 讀書室 ＋ 快剪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423160" y="4791456"/>
            <a:ext cx="9144000" cy="1691640"/>
          </a:xfrm>
          <a:prstGeom prst="rect">
            <a:avLst/>
          </a:prstGeom>
          <a:solidFill>
            <a:srgbClr val="F9FB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42032" y="4846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24242"/>
                </a:solidFill>
              </a:rPr>
              <a:t>適用空間：60坪以上二樓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450592" y="5138928"/>
            <a:ext cx="6858000" cy="25603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487168" y="515721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業態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94760" y="515721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坪數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28032" y="515721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月租金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44768" y="5157216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功能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0592" y="5413248"/>
            <a:ext cx="68580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87168" y="5458968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精品/飾品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794760" y="5458968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15坪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28032" y="5458968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B5E20"/>
                </a:solidFill>
              </a:rPr>
              <a:t>NT$15,000/月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5458968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提升客層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450592" y="5715000"/>
            <a:ext cx="685800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487168" y="5760720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讀書室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794760" y="576072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20坪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28032" y="5760720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B5E20"/>
                </a:solidFill>
              </a:rPr>
              <a:t>NT$28,000/月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44768" y="5760720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穩定客流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450592" y="6016752"/>
            <a:ext cx="68580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487168" y="6062472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快剪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794760" y="6062472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12121"/>
                </a:solidFill>
              </a:rPr>
              <a:t>10坪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28032" y="6062472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B5E20"/>
                </a:solidFill>
              </a:rPr>
              <a:t>NT$18,000/月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44768" y="6062472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高頻導流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45168" y="5202936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6A1B9A"/>
                </a:solidFill>
              </a:rPr>
              <a:t>月租金合計：約 NT$61,000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450592" y="6163056"/>
            <a:ext cx="9052560" cy="274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542032" y="6181344"/>
            <a:ext cx="8869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★ 全客層覆蓋：學生、主婦、長輩三族群同時吸引，最大化人流多樣性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整合財務模型｜升級方案月損益試算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</a:rPr>
              <a:t>一樓攤位租金 ＋ 二樓租金 ＋ 自營蔬果主攤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521440" cy="38404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33856"/>
            <a:ext cx="11155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假設：7攤出租（月租NT$78,000）+ 二樓方案A快剪+讀書室（月租NT$55,000）+ 自營蔬果主攤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54480"/>
            <a:ext cx="5394960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8191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📈 月收入來源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20240"/>
            <a:ext cx="5394960" cy="457200"/>
          </a:xfrm>
          <a:prstGeom prst="rect">
            <a:avLst/>
          </a:prstGeom>
          <a:solidFill>
            <a:srgbClr val="F9F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2834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一樓攤位租金（7攤）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011680"/>
            <a:ext cx="1417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5E20"/>
                </a:solidFill>
              </a:rPr>
              <a:t>NT$78,000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2011680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24242"/>
                </a:solidFill>
              </a:rPr>
              <a:t>穩定固定收入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95728"/>
            <a:ext cx="539496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87168"/>
            <a:ext cx="2834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二樓快剪租金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487168"/>
            <a:ext cx="1417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5E20"/>
                </a:solidFill>
              </a:rPr>
              <a:t>NT$20,000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6" y="2487168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24242"/>
                </a:solidFill>
              </a:rPr>
              <a:t>穩定固定收入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871216"/>
            <a:ext cx="5394960" cy="457200"/>
          </a:xfrm>
          <a:prstGeom prst="rect">
            <a:avLst/>
          </a:prstGeom>
          <a:solidFill>
            <a:srgbClr val="F9F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962656"/>
            <a:ext cx="2834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二樓讀書室（訂閱）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962656"/>
            <a:ext cx="1417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5E20"/>
                </a:solidFill>
              </a:rPr>
              <a:t>NT$35,000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016" y="2962656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24242"/>
                </a:solidFill>
              </a:rPr>
              <a:t>30席×NT$1,200/月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346704"/>
            <a:ext cx="539496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438144"/>
            <a:ext cx="2834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自營蔬果主攤營業額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3438144"/>
            <a:ext cx="1417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5E20"/>
                </a:solidFill>
              </a:rPr>
              <a:t>NT$300,000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0016" y="3438144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24242"/>
                </a:solidFill>
              </a:rPr>
              <a:t>一樓自留攤位主營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822191"/>
            <a:ext cx="5394960" cy="457200"/>
          </a:xfrm>
          <a:prstGeom prst="rect">
            <a:avLst/>
          </a:prstGeom>
          <a:solidFill>
            <a:srgbClr val="F9F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913631"/>
            <a:ext cx="2834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自營蔬果毛利(32%)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3913631"/>
            <a:ext cx="1417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5E20"/>
                </a:solidFill>
              </a:rPr>
              <a:t>NT$ 96,000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3913631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24242"/>
                </a:solidFill>
              </a:rPr>
              <a:t>毛利額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325112"/>
            <a:ext cx="5394960" cy="45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3708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月總可用收入（租金+毛利）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4370832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57F17"/>
                </a:solidFill>
              </a:rPr>
              <a:t>NT$229,000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1554480"/>
            <a:ext cx="5486400" cy="34747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158191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📉 月固定支出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9320" y="1920240"/>
            <a:ext cx="54864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60" y="2011680"/>
            <a:ext cx="2834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整棟租金（一+二樓）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2011680"/>
            <a:ext cx="1508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62828"/>
                </a:solidFill>
              </a:rPr>
              <a:t>NT$120,000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1592" y="2011680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24242"/>
                </a:solidFill>
              </a:rPr>
              <a:t>假設兩層合租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2395728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2487168"/>
            <a:ext cx="2834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人事費（主攤2人）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2487168"/>
            <a:ext cx="1508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62828"/>
                </a:solidFill>
              </a:rPr>
              <a:t>NT$ 80,000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51592" y="2487168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24242"/>
                </a:solidFill>
              </a:rPr>
              <a:t>老闆+2員工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871216"/>
            <a:ext cx="54864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2962656"/>
            <a:ext cx="2834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水電費（共用）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15400" y="2962656"/>
            <a:ext cx="1508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62828"/>
                </a:solidFill>
              </a:rPr>
              <a:t>NT$ 22,000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51592" y="2962656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24242"/>
                </a:solidFill>
              </a:rPr>
              <a:t>含冷藏+公共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3346704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80760" y="3438144"/>
            <a:ext cx="2834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攤位管理維護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15400" y="3438144"/>
            <a:ext cx="1508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62828"/>
                </a:solidFill>
              </a:rPr>
              <a:t>NT$  8,000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51592" y="3438144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24242"/>
                </a:solidFill>
              </a:rPr>
              <a:t>清潔/設備維護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3822191"/>
            <a:ext cx="54864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80760" y="3913631"/>
            <a:ext cx="2834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行銷/雜支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15400" y="3913631"/>
            <a:ext cx="1508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62828"/>
                </a:solidFill>
              </a:rPr>
              <a:t>NT$  8,000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51592" y="3913631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24242"/>
                </a:solidFill>
              </a:rPr>
              <a:t>社群+活動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89320" y="4325112"/>
            <a:ext cx="5486400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80760" y="43708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月固定支出合計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15400" y="43708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NT$238,000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4892040"/>
            <a:ext cx="11521440" cy="13258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493776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6BB6A"/>
                </a:solidFill>
              </a:rPr>
              <a:t>升級方案月損益概估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534924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</a:rPr>
              <a:t>自營需達月營收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5623560"/>
            <a:ext cx="2697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7F17"/>
                </a:solidFill>
              </a:rPr>
              <a:t>NT$31萬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60533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8E6C9"/>
                </a:solidFill>
              </a:rPr>
              <a:t>（原53-65萬，降低42%）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10128" y="534924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</a:rPr>
              <a:t>全模式月淨利(基準)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10128" y="5623560"/>
            <a:ext cx="2697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6BB6A"/>
                </a:solidFill>
              </a:rPr>
              <a:t>NT$+8,000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10128" y="60533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8E6C9"/>
                </a:solidFill>
              </a:rPr>
              <a:t>（達基準即盈利）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63056" y="534924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</a:rPr>
              <a:t>開店啟動成本增加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63056" y="5623560"/>
            <a:ext cx="2697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E082"/>
                </a:solidFill>
              </a:rPr>
              <a:t>+NT$80–150萬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63056" y="60533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8E6C9"/>
                </a:solidFill>
              </a:rPr>
              <a:t>（二樓裝潢+設備）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15984" y="534924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</a:rPr>
              <a:t>預估回本期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15984" y="5623560"/>
            <a:ext cx="2697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6BB6A"/>
                </a:solidFill>
              </a:rPr>
              <a:t>24–36個月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15984" y="60533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8E6C9"/>
                </a:solidFill>
              </a:rPr>
              <a:t>（整體含二樓投資）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升級方案 SWOT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</a:rPr>
              <a:t>攤位出租制 ＋ 二樓複合空間 策略評估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5760720" cy="38404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097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 優勢 Strengths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35607"/>
            <a:ext cx="576072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55448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租金收入降低損益平衡門檻，風險分散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多業態共同引流，相互加乘客流效益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讀書室/老人會館建立社區日常據點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快剪等高頻業態確保穩定每日人流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攤位制可引進優質攤主，豐富商品種類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押金收入改善初期現金流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051560"/>
            <a:ext cx="5760720" cy="384048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097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 劣勢 Weaknesses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435607"/>
            <a:ext cx="576072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7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二樓裝潢與設備成本增加80-150萬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攤位招租需時間，初期可能有空攤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多攤主管理複雜度提升，需訂立管理規約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需同時管理多種租賃關係（法律風險）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二樓人流不確定，各業態導流效益待驗證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若有二樓，整棟租金增加（約5-7萬/月）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977639"/>
            <a:ext cx="5760720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402335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 機會 Opportunities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361688"/>
            <a:ext cx="576072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" y="4480559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台鐵平鎮站2026年啟用，周邊人流大增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複合市集為台灣近年商業模式顯學（成功案例多）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老人會館可申請桃園市長照社造補助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讀書室在考試/備考族群需求持續成長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攤位可吸引新創小農/食品微型創業者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複合商圈特色化，媒體報導與口碑傳播力強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977639"/>
            <a:ext cx="5760720" cy="38404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402335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 威脅 Threats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361688"/>
            <a:ext cx="576072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480559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攤位租賃合約糾紛（攤主違規/拖欠租金）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若招不到適合攤主，空攤期損失租金收入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二樓業態若定位不佳，反成閒置空間負擔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整棟租金若調漲，整體成本壓力倍增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多業態管理需要更多業主精力與管理技能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212121"/>
                </a:solidFill>
              </a:rPr>
              <a:t>◆ 競爭者複製模式，差異化優勢縮短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攤位招商策略與管理規範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</a:rPr>
              <a:t>特約出租加盟制度設計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5623560" cy="3657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33856"/>
            <a:ext cx="5440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📣 招商策略（攤位招募）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5623560" cy="3291840"/>
          </a:xfrm>
          <a:prstGeom prst="rect">
            <a:avLst/>
          </a:prstGeom>
          <a:solidFill>
            <a:srgbClr val="F9FBE7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572768"/>
            <a:ext cx="534924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目標攤主：在地小農、有品牌意識的微型食品創業者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招募管道：桃園市農會、社群（FB在地社團）、傳單發放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面試篩選：重視衛生習慣、服務態度、商品差異性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優先引入：有機認證、產地直送、有故事性的攤主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試營期：前2個月試攤，租金7折，雙方互相評估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目標：開幕前1個月完成7攤招租率≥80%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97280"/>
            <a:ext cx="5943600" cy="36576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9048" y="1133856"/>
            <a:ext cx="5760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📋 攤位管理規約（重點條款）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463040"/>
            <a:ext cx="5943600" cy="3291840"/>
          </a:xfrm>
          <a:prstGeom prst="rect">
            <a:avLst/>
          </a:prstGeom>
          <a:solidFill>
            <a:srgbClr val="F9FBE7"/>
          </a:solidFill>
          <a:ln w="12700">
            <a:solidFill>
              <a:srgbClr val="F57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572768"/>
            <a:ext cx="566928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業態獨家性：同類商品不得重複（蔬菜、水果各限1攤）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統一開關店時間：週一至日 07:00–20:00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環境衛生：每日清潔攤位，定期抽查，違規累計警告制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統一收銀系統：使用共用POS，租賃費分攤透明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商品品質標準：蔬果品質基準由主辦方統一訂定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廣告管理：統一視覺設計，不得私自懸掛不雅廣告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糾紛處理：設置攤主委員會，重大問題共同決議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892040"/>
            <a:ext cx="11521440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⚖ 法律合規重點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76672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⚠ 需簽訂「場地租賃暨特約加盟協議書」（建議委請律師審閱）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833872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⚠ 攤主需自行辦理商業登記或個人執業登記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376672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⚠ 食品類攤位需取得食品業者登錄證，並確認食品安全衛生規範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833872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⚠ 二樓讀書室需取得公共場所使用執照（視規模）；老人會館依長照法規申請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三大方案綜合比較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</a:rPr>
              <a:t>純自營 vs 攤位出租 vs 複合市集（含二樓）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521440" cy="4114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247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評估項目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1247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方案A：純自營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1124712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方案B：一樓攤位制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112471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方案C：複合市集+二樓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36192"/>
            <a:ext cx="1152144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62763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啟動資金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1627632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4242"/>
                </a:solidFill>
              </a:rPr>
              <a:t>NT$250–400萬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3288" y="16276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7F17"/>
                </a:solidFill>
              </a:rPr>
              <a:t>NT$250–400萬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16276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NT$380–600萬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993391"/>
            <a:ext cx="11521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2084831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每月固定成本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4368" y="2084831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4242"/>
                </a:solidFill>
              </a:rPr>
              <a:t>NT$17.2萬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33288" y="208483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7F17"/>
                </a:solidFill>
              </a:rPr>
              <a:t>NT$17.2萬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20848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NT$23.8萬（含二樓）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450591"/>
            <a:ext cx="1152144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254203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租金/授權收入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44368" y="2542032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4242"/>
                </a:solidFill>
              </a:rPr>
              <a:t>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33288" y="25420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7F17"/>
                </a:solidFill>
              </a:rPr>
              <a:t>+NT$7.8萬/月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67928" y="25420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+NT$13.3萬/月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907791"/>
            <a:ext cx="11521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299923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損益平衡月營收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44368" y="2999232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4242"/>
                </a:solidFill>
              </a:rPr>
              <a:t>NT$53–65萬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33288" y="29992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7F17"/>
                </a:solidFill>
              </a:rPr>
              <a:t>NT$31萬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67928" y="29992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NT$25萬（自營部分）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364991"/>
            <a:ext cx="1152144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" y="345643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人流吸引力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44368" y="3456432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4242"/>
                </a:solidFill>
              </a:rPr>
              <a:t>★★☆☆☆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33288" y="34564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7F17"/>
                </a:solidFill>
              </a:rPr>
              <a:t>★★★☆☆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67928" y="34564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★★★★★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822191"/>
            <a:ext cx="11521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" y="3913631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管理複雜度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44368" y="3913631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4242"/>
                </a:solidFill>
              </a:rPr>
              <a:t>★☆☆☆☆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33288" y="391363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7F17"/>
                </a:solidFill>
              </a:rPr>
              <a:t>★★★☆☆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7928" y="39136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★★★★☆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279392"/>
            <a:ext cx="1152144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" y="4370831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社區黏著度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44368" y="4370831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4242"/>
                </a:solidFill>
              </a:rPr>
              <a:t>★★☆☆☆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33288" y="437083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7F17"/>
                </a:solidFill>
              </a:rPr>
              <a:t>★★★☆☆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7928" y="43708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★★★★★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736592"/>
            <a:ext cx="11521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7472" y="4828031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收益來源多元性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44368" y="4828031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4242"/>
                </a:solidFill>
              </a:rPr>
              <a:t>單一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3288" y="482803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7F17"/>
                </a:solidFill>
              </a:rPr>
              <a:t>雙元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67928" y="48280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多元（4+種）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193792"/>
            <a:ext cx="1152144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7472" y="5285231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風險分散程度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44368" y="5285231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4242"/>
                </a:solidFill>
              </a:rPr>
              <a:t>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33288" y="528523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7F17"/>
                </a:solidFill>
              </a:rPr>
              <a:t>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67928" y="52852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650992"/>
            <a:ext cx="11521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7472" y="5742431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預估回本期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44368" y="5742431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4242"/>
                </a:solidFill>
              </a:rPr>
              <a:t>18–30個月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33288" y="574243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7F17"/>
                </a:solidFill>
              </a:rPr>
              <a:t>15–24個月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67928" y="57424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24–36個月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6108192"/>
            <a:ext cx="11521440" cy="43891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7472" y="6199631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整體推薦評分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44368" y="6199631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65分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33288" y="619963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78分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67928" y="61996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88分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320" y="64465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24242"/>
                </a:solidFill>
              </a:rPr>
              <a:t>※ 方案C需確認二樓空間可取得（自有或可另租）；若無二樓則選方案B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升級方案執行路線圖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</a:rPr>
              <a:t>複合市集從規劃到開幕的關鍵里程碑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2807208" cy="5943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-6 → -4 月
籌備期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91640"/>
            <a:ext cx="2807208" cy="4709160"/>
          </a:xfrm>
          <a:prstGeom prst="rect">
            <a:avLst/>
          </a:prstGeom>
          <a:solidFill>
            <a:srgbClr val="F9FBE7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828800"/>
            <a:ext cx="2532888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確認二樓空間是否可取得、評估租金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完成攤位平面規劃設計（委請設計師）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制訂攤位特約合作協議書（法律審閱）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開始攤主招募（FB/農會/LINE社群）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申請食品業者相關證照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確認二樓業態組合（快剪/讀書室）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18688" y="1097280"/>
            <a:ext cx="2807208" cy="59436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0128" y="1115568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-3 → -1 月
建設期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1691640"/>
            <a:ext cx="2807208" cy="4709160"/>
          </a:xfrm>
          <a:prstGeom prst="rect">
            <a:avLst/>
          </a:prstGeom>
          <a:solidFill>
            <a:srgbClr val="F9FBE7"/>
          </a:solidFill>
          <a:ln w="19050">
            <a:solidFill>
              <a:srgbClr val="F57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828800"/>
            <a:ext cx="2532888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一樓裝潢施工（冷藏設備、攤位隔間）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二樓裝潢施工（依業態需求）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攤位招租完成（目標7攤&gt;80%簽約）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建立POS共用系統、門禁管理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LINE官方帳號開通，社群預熱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申請桃園市老人會館/社造補助（若適用）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6" y="1097280"/>
            <a:ext cx="2807208" cy="5943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1115568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第 1 → 3 月
開幕期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3056" y="1691640"/>
            <a:ext cx="2807208" cy="4709160"/>
          </a:xfrm>
          <a:prstGeom prst="rect">
            <a:avLst/>
          </a:prstGeom>
          <a:solidFill>
            <a:srgbClr val="F9FBE7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6" y="1828800"/>
            <a:ext cx="2532888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盛大開幕（邀請里長、農夫、媒體）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「認識攤主」活動，建立人情感連結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每日SOP即期品管理執行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追蹤各攤位動銷率，輔導攤主調整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LINE群組累積300位會員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第3個月財務健診（出租率/毛利/人流）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07424" y="1097280"/>
            <a:ext cx="2807208" cy="5943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864" y="1115568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第 4 → 12 月
成長期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07424" y="1691640"/>
            <a:ext cx="2807208" cy="4709160"/>
          </a:xfrm>
          <a:prstGeom prst="rect">
            <a:avLst/>
          </a:prstGeom>
          <a:solidFill>
            <a:srgbClr val="F9FBE7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4584" y="1828800"/>
            <a:ext cx="2532888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引入第一批VIP金葉會員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評估讀書室訂閱人數，達30席80%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老人會館定期活動穩定（每週3次）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快剪導流效益確認（月來客達標）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年底財務審查：各業態貢獻度分析</a:t>
            </a:r>
          </a:p>
          <a:p>
            <a:pPr>
              <a:spcBef>
                <a:spcPts val="900"/>
              </a:spcBef>
            </a:pPr>
            <a:r>
              <a:rPr sz="1100">
                <a:solidFill>
                  <a:srgbClr val="212121"/>
                </a:solidFill>
              </a:rPr>
              <a:t>▶ 評估是否擴充或調整業態組合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6473952"/>
            <a:ext cx="1152144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核心KPI：出租率≥85% ／ 月自營達30萬 ／ 綜合月損益轉正 ／ VIP人數月增10人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總結與決策建議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</a:rPr>
              <a:t>升級方案可行性結論與行動建議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521440" cy="7772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✅ 結論：攤位出租 ＋ 二樓複合業態 顯著提升可行性，強烈建議採用升級方案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6BB6A"/>
                </a:solidFill>
              </a:rPr>
              <a:t>綜合評分從65分（純自營）提升至88分（複合市集），損益門檻降低42%，風險分散效果顯著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11680"/>
            <a:ext cx="5623560" cy="36576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2048256"/>
            <a:ext cx="5440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💡 關鍵決策前置確認事項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77440"/>
            <a:ext cx="5623560" cy="2560320"/>
          </a:xfrm>
          <a:prstGeom prst="rect">
            <a:avLst/>
          </a:prstGeom>
          <a:solidFill>
            <a:srgbClr val="F9FBE7"/>
          </a:solidFill>
          <a:ln w="12700">
            <a:solidFill>
              <a:srgbClr val="F57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2487168"/>
            <a:ext cx="5349240" cy="239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【空間確認】是否有二樓可用空間？（自有 or 可另與房東協商租用）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【資金確認】預算是否可支應升級版啟動成本（約380-600萬）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【時間確認】業主是否有足夠時間管理多攤位、多租戶複合業態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【法務確認】特約合作協議書、食品/場地執照等合規事項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【招商確認】是否有人脈或資源可預先招募到合適攤主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2011680"/>
            <a:ext cx="59436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9048" y="2048256"/>
            <a:ext cx="5760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🎯 三步驟行動建議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377440"/>
            <a:ext cx="5943600" cy="2560320"/>
          </a:xfrm>
          <a:prstGeom prst="rect">
            <a:avLst/>
          </a:prstGeom>
          <a:solidFill>
            <a:srgbClr val="F9FBE7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487168"/>
            <a:ext cx="5669280" cy="239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STEP 1：與房東確認二樓使用可行性，取得租金條件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STEP 2：委請設計師出攤位+樓層平面規劃圖（預算2-3萬）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STEP 3：試算資金缺口，申請青創貸款或尋找共同投資夥伴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若有二樓 → 直接採方案C（複合市集+二樓）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若無二樓 → 採方案B（一樓攤位出租制）仍優於純自營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424242"/>
                </a:solidFill>
              </a:rPr>
              <a:t>▶ 兩種方案均優於原純自營方案，建議擇一推進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074920"/>
            <a:ext cx="11521440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0932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升級方案關鍵財務指標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486400"/>
            <a:ext cx="2697480" cy="1207008"/>
          </a:xfrm>
          <a:prstGeom prst="rect">
            <a:avLst/>
          </a:prstGeom>
          <a:solidFill>
            <a:srgbClr val="F9FBE7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5486400"/>
            <a:ext cx="269748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55778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24242"/>
                </a:solidFill>
              </a:rPr>
              <a:t>攤位月租收入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79" y="5833872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5E20"/>
                </a:solidFill>
              </a:rPr>
              <a:t>NT$7.8萬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79" y="629107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4242"/>
                </a:solidFill>
              </a:rPr>
              <a:t>7攤出租（穩定）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72968" y="5486400"/>
            <a:ext cx="2697480" cy="1207008"/>
          </a:xfrm>
          <a:prstGeom prst="rect">
            <a:avLst/>
          </a:prstGeom>
          <a:solidFill>
            <a:srgbClr val="F9FBE7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172968" y="5486400"/>
            <a:ext cx="269748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64408" y="55778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24242"/>
                </a:solidFill>
              </a:rPr>
              <a:t>二樓月租收入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4408" y="5833872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5E20"/>
                </a:solidFill>
              </a:rPr>
              <a:t>NT$5.5萬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4408" y="629107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4242"/>
                </a:solidFill>
              </a:rPr>
              <a:t>快剪+讀書室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25896" y="5486400"/>
            <a:ext cx="2697480" cy="1207008"/>
          </a:xfrm>
          <a:prstGeom prst="rect">
            <a:avLst/>
          </a:prstGeom>
          <a:solidFill>
            <a:srgbClr val="F9FBE7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25896" y="5486400"/>
            <a:ext cx="269748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17336" y="55778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24242"/>
                </a:solidFill>
              </a:rPr>
              <a:t>損益門檻降低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17336" y="5833872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5E20"/>
                </a:solidFill>
              </a:rPr>
              <a:t>－42%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17336" y="629107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4242"/>
                </a:solidFill>
              </a:rPr>
              <a:t>僅需NT$31萬自營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78824" y="5486400"/>
            <a:ext cx="2697480" cy="1207008"/>
          </a:xfrm>
          <a:prstGeom prst="rect">
            <a:avLst/>
          </a:prstGeom>
          <a:solidFill>
            <a:srgbClr val="F9FBE7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78824" y="5486400"/>
            <a:ext cx="269748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70263" y="55778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24242"/>
                </a:solidFill>
              </a:rPr>
              <a:t>整體推薦評分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70263" y="5833872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5E20"/>
                </a:solidFill>
              </a:rPr>
              <a:t>88 / 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0263" y="629107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4242"/>
                </a:solidFill>
              </a:rPr>
              <a:t>vs 純自營65分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88952" cy="2011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感謝閱覽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6BB6A"/>
                </a:solidFill>
              </a:rPr>
              <a:t>複合市集升級方案 — 攤位出租制 ＋ 二樓複合空間 評估報告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2606040"/>
            <a:ext cx="4507992" cy="64008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8346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✅ 攤位出租制：7攤月租NT$7.8萬，損益門檻降低42%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33756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✅ 二樓方案A（推薦）：快剪+讀書室，月租NT$5.5萬，引流效果最強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✅ 複合方案整體評分 88/100，顯著優於純自營（65分）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34340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💡 關鍵下一步：確認二樓空間可行性，委請設計師出規劃圖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29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8E6C9"/>
                </a:solidFill>
              </a:rPr>
              <a:t>本報告資料截至 2026年5月｜數據來源：桃園市政府、財政部、業界公開資訊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355080"/>
            <a:ext cx="12188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CONFIDENTIAL  ·  僅供內部決策使用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