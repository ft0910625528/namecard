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複合市集升級方案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6BB6A"/>
                </a:solidFill>
              </a:rPr>
              <a:t>攤位出租制 ＋ 二樓複合空間 可行性評估報告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286000"/>
            <a:ext cx="578815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01168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🥦 一樓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436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E082"/>
                </a:solidFill>
              </a:rPr>
              <a:t>8攤×3坪
特約出租加盟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2468880"/>
            <a:ext cx="201168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✂ 二樓A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94436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E082"/>
                </a:solidFill>
              </a:rPr>
              <a:t>快剪髮廊
高頻導客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2468880"/>
            <a:ext cx="201168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👜 二樓B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94436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E082"/>
                </a:solidFill>
              </a:rPr>
              <a:t>精品/飾品
客單價提升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2904" y="2468880"/>
            <a:ext cx="201168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📚 二樓C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294436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E082"/>
                </a:solidFill>
              </a:rPr>
              <a:t>讀書室
訂閱穩定收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1472" y="2468880"/>
            <a:ext cx="201168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🏠 二樓D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294436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E082"/>
                </a:solidFill>
              </a:rPr>
              <a:t>老人會館
社區深根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6C9"/>
                </a:solidFill>
              </a:rPr>
              <a:t>平鎮區平德路 271 號｜總空間規劃評估｜2026年5月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35508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 ·  僅供內部決策使用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商業模式升級概念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從「單店自營」升級為「複合市集+多功能樓層」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03520" cy="38404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原方案：單一自營蔬果店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● 自營一家蔬果+熟食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84248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048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● 全部風險自行承擔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59736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523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● 月需營收53-65萬才損益平衡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35224"/>
            <a:ext cx="5303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999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● 靠自身客流，競爭壓力大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5146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7F17"/>
                </a:solidFill>
              </a:rPr>
              <a:t>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097280"/>
            <a:ext cx="53035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1124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升級方案：複合市集+複合樓層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508760"/>
            <a:ext cx="5303520" cy="45720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1F：自營主攤＋8個攤位出租，租金分擔風險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984248"/>
            <a:ext cx="5303520" cy="45720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048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2F：快剪/精品/讀書室/老人會館，多元收益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459736"/>
            <a:ext cx="5303520" cy="45720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523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多業態共同引流，提升來客次數與停留時間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935224"/>
            <a:ext cx="5303520" cy="457200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999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✔ 損益平衡門檻大幅降低，風險可控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20440"/>
            <a:ext cx="115214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47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升級方案三大核心價值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77639"/>
            <a:ext cx="2807208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977639"/>
            <a:ext cx="280720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069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💰 風險分散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80560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攤位租金收入每月可達
NT$5-8萬，降低損益壓力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18688" y="3977639"/>
            <a:ext cx="2807208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18688" y="3977639"/>
            <a:ext cx="280720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28416" y="4069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🚶 人流共享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8416" y="4480560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多業態吸引不同族群
（長輩/學生/上班族）匯聚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3977639"/>
            <a:ext cx="2807208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977639"/>
            <a:ext cx="280720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4069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🏘️ 社區定錨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480560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讀書室+老人會館形成
社區日常據點，忠誠黏著度高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07424" y="3977639"/>
            <a:ext cx="2807208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07424" y="3977639"/>
            <a:ext cx="280720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4069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📈 坪效提升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4480560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一樓+二樓雙層運用
整體收益遠超單層自營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492240"/>
            <a:ext cx="1152144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關鍵前提：需確認是否有二樓空間（自有或可租用）；若為純一樓50坪，則僅適用一樓攤位方案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一樓空間規劃｜50坪攤位配置設計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3坪×8攤 特約出租加盟制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858000" cy="5394960"/>
          </a:xfrm>
          <a:prstGeom prst="rect">
            <a:avLst/>
          </a:prstGeom>
          <a:solidFill>
            <a:srgbClr val="F9FBE7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【 一樓平面示意圖 — 50坪 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463040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攤位①
蔬菜類
3坪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627632"/>
            <a:ext cx="1463040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76479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攤位②
水果類
3坪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627632"/>
            <a:ext cx="1463040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6479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攤位③
豆腐蛋品
3坪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627632"/>
            <a:ext cx="1463040" cy="1325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76479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攤位④
海鮮生鮮
3坪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90672"/>
            <a:ext cx="1463040" cy="13258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2783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攤位⑤
熟食便當
3坪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90672"/>
            <a:ext cx="1463040" cy="13258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322783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攤位⑥
滷味/小菜
3坪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3090672"/>
            <a:ext cx="1463040" cy="1325880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22783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攤位⑦
有機/乾貨
3坪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090672"/>
            <a:ext cx="1463040" cy="13258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227832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攤位⑧
自由業態
3坪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72000"/>
            <a:ext cx="1463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4515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冷藏儲存
4坪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572000"/>
            <a:ext cx="1463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464515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結帳/服務台
3坪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572000"/>
            <a:ext cx="1463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64515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走道/出入
(剩餘坪數)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59552"/>
            <a:ext cx="6858000" cy="8961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出租攤位：24坪（8×3）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623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冷藏倉儲：4坪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623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結帳/服務：3坪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562356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走道/通道：約19坪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1097280"/>
            <a:ext cx="4572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60920" y="1097280"/>
            <a:ext cx="45720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1247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攤位規格與條件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1572768"/>
            <a:ext cx="4572000" cy="43891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16642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攤位坪數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16642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每攤 3 坪（約 9.9 m²）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2029967"/>
            <a:ext cx="4572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21214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攤位數量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2121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共 8 攤（其中1攤自留主攤可選）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2487168"/>
            <a:ext cx="4572000" cy="43891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25786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合約期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25786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建議 6-12 個月，可續約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2944368"/>
            <a:ext cx="4572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0358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月租金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30358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NT$8,000–12,000/攤（含水電）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3401568"/>
            <a:ext cx="4572000" cy="43891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34930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押金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3493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 個月租金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3858768"/>
            <a:ext cx="4572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39502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公共設施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39502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共用冷藏、收銀整合、廁所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60920" y="4315968"/>
            <a:ext cx="4572000" cy="43891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44074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管理規約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44074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統一開關店時間（7-20時）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4773168"/>
            <a:ext cx="4572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48646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業態限制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48646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不得重複業態，需互補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20" y="5230368"/>
            <a:ext cx="4572000" cy="438912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60" y="53218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加盟條件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60" y="53218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簽訂特約合作協議書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0920" y="5687568"/>
            <a:ext cx="4572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5236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退租規定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提前30天通知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一樓攤位出租｜租金收益財務試算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穩定租金收入降低損益風險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40664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3385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攤位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33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業態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1338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月租金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1338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押金(2月)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1338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年租金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1338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備註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36192"/>
            <a:ext cx="7406640" cy="512064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459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64591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新鮮蔬菜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645919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645919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645919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120,000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64591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主力客流攤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66543"/>
            <a:ext cx="7406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7627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176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新鮮水果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176272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2176272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176272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1762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主力客流攤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96896"/>
            <a:ext cx="7406640" cy="512064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70662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70662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豆腐蛋品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706624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8,000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2706624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16,000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2706624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96,000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7066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輔助商品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127248"/>
            <a:ext cx="7406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23697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23697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海鮮/肉品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23697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12,000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323697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24,000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23697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144,000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369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高毛利業態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657600"/>
            <a:ext cx="7406640" cy="512064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6732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7673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熟食便當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12,000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376732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24,000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3767328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144,000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37673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高需求業態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187952"/>
            <a:ext cx="7406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29768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42976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滷味/小菜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23160" y="429768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8,000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9312" y="429768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16,000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64608" y="4297680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96,000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2976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熟食配套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718303"/>
            <a:ext cx="7406640" cy="512064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828031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82803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有機/乾貨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4828031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39312" y="4828031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20,000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8" y="4828031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120,000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482803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差異化特色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248655"/>
            <a:ext cx="74066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5358383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3583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自由業態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3160" y="5358383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8,000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39312" y="5358383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16,000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64608" y="5358383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 96,000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53583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彈性招募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788152"/>
            <a:ext cx="740664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" y="5824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合計 (7攤出租)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23160" y="5824728"/>
            <a:ext cx="2999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7F17"/>
                </a:solidFill>
              </a:rPr>
              <a:t>NT$ 78,000 / 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64608" y="5824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F17"/>
                </a:solidFill>
              </a:rPr>
              <a:t>NT$ 936,000 / 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1097280"/>
            <a:ext cx="402336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863840" y="1097280"/>
            <a:ext cx="40233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79" y="1188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月租金收入（7攤）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144475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NT$7.8萬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5279" y="1901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穩定現金流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0" y="2359152"/>
            <a:ext cx="402336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63840" y="2359152"/>
            <a:ext cx="40233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55279" y="2450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押金（一次收取）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79" y="2706624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565C0"/>
                </a:solidFill>
              </a:rPr>
              <a:t>NT$15.6萬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79" y="31638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等同1個月固定成本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63840" y="3621024"/>
            <a:ext cx="402336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63840" y="3621024"/>
            <a:ext cx="40233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55279" y="371246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租金抵銷固定成本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396849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7F17"/>
                </a:solidFill>
              </a:rPr>
              <a:t>45%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79" y="44256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月固定成本17.2萬中的45%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4882896"/>
            <a:ext cx="402336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63840" y="4882896"/>
            <a:ext cx="40233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55279" y="49743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自營損益平衡降至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79" y="523036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</a:rPr>
              <a:t>NT$31萬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5279" y="56875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（原需53-65萬）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" y="6373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※ 第8攤保留為自留主攤（蔬果+管理區），實際出租7攤；租金含水電分攤，不另計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二樓複合空間｜四大業態規劃方案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精品 ／ 快剪 ／ 讀書室 ／ 老人會館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283464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✂ 快剪髮廊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36192"/>
            <a:ext cx="2834640" cy="475488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6093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📐 空間需求：10-15坪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0299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👥 客層：全齡層，高頻消費（每月1-2次）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4505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💰 月租收益：NT$18,000–25,000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871216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📊 導流效益：★★★★★ 最強（帶動一樓人流）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37560"/>
            <a:ext cx="2651760" cy="2560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35584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亮點優勢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630168"/>
            <a:ext cx="26334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等待剪髮時可至一樓採買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客單周期短，月來客最穩定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快剪品牌加盟易尋（QB House等）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不需要大設備，裝潢成本低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687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推薦指數：⭐⭐⭐⭐⭐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1078992"/>
            <a:ext cx="283464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👜 精品/飾品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1536192"/>
            <a:ext cx="2834640" cy="475488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8416" y="16093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📐 空間需求：10-20坪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0299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👥 客層：25-45歲女性，重疊蔬果主客群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24505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💰 月租收益：NT$12,000–20,000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2871216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📊 導流效益：★★★ 中等（非每日到訪）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3337560"/>
            <a:ext cx="2651760" cy="2560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35584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亮點優勢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3630168"/>
            <a:ext cx="26334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與蔬果店客群高度重疊（家庭主婦）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可引入飾品/家居小物/二手精品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假日人流增加顯著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客單價提升整體商圈形象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5687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1B9A"/>
                </a:solidFill>
              </a:rPr>
              <a:t>推薦指數：⭐⭐⭐⭐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1078992"/>
            <a:ext cx="2834640" cy="457200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📚 讀書室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1536192"/>
            <a:ext cx="2834640" cy="47548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16093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📐 空間需求：20-30坪，30席座位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20299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👥 客層：學生族、自由工作者、備考族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24505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💰 月租收益：NT$30,000–50,000（訂閱制）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2871216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📊 導流效益：★★★ 固定客，長時間停留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0216" y="3337560"/>
            <a:ext cx="2651760" cy="256032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35584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亮點優勢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630168"/>
            <a:ext cx="26334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月費制：NT$800-1,500/人/月（穩定現金）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時段計費：NT$60-80/小時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自習需求在平鎮青年族群高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可提供飲料/蔬果汁加值服務（連結一樓）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5687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964"/>
                </a:solidFill>
              </a:rPr>
              <a:t>推薦指數：⭐⭐⭐⭐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8864" y="1078992"/>
            <a:ext cx="28346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0304" y="1097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🏠 老人會館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4" y="1536192"/>
            <a:ext cx="2834640" cy="475488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1609344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📐 空間需求：30-40坪，含活動空間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2029968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👥 客層：60歲以上長輩，社區黏著度最高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24505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💰 月租收益：NT$5,000–15,000（或申請補助）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2871216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📊 導流效益：★★★★ 強（長輩每日買菜需求）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0304" y="3337560"/>
            <a:ext cx="26517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63456" y="335584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亮點優勢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3630168"/>
            <a:ext cx="263347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可申請桃園市長照/社造補助降低成本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長輩為蔬果店最忠實購買族群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提升社區形象，建立品牌口碑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212121"/>
                </a:solidFill>
              </a:rPr>
              <a:t>◆ 提供量血壓、下棋、健康講座等活動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56875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推薦指數：⭐⭐⭐⭐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二樓最佳組合方案推薦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依空間大小與目標選擇最適業態組合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03120" cy="1691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6187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方案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5564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82"/>
                </a:solidFill>
              </a:rPr>
              <a:t>快剪 ＋ 讀書室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97280"/>
            <a:ext cx="9144000" cy="169164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152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</a:rPr>
              <a:t>適用空間：40-50坪二樓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0592" y="1444752"/>
            <a:ext cx="685800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4630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業態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46304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坪數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4630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月租金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46304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50592" y="1719072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17647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快剪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764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15坪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17647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NT$20,000/月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76479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最強導流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2" y="2020824"/>
            <a:ext cx="68580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06654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讀書室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066543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25坪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06654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NT$35,000/月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06654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穩定訂閱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2322576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23682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走道廁所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236829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10坪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23682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236829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公共設施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15087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月租金合計：約 NT$55,000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0592" y="2468880"/>
            <a:ext cx="905256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42032" y="2487168"/>
            <a:ext cx="8869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最推薦：快剪帶人流，讀書室帶固定客，雙業態互補性最強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44368"/>
            <a:ext cx="2103120" cy="1691640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1089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方案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602735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82"/>
                </a:solidFill>
              </a:rPr>
              <a:t>老人會館 ＋ 快剪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2944368"/>
            <a:ext cx="9144000" cy="1691640"/>
          </a:xfrm>
          <a:prstGeom prst="rect">
            <a:avLst/>
          </a:prstGeom>
          <a:solidFill>
            <a:srgbClr val="F9FBE7"/>
          </a:solidFill>
          <a:ln w="19050">
            <a:solidFill>
              <a:srgbClr val="006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2032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</a:rPr>
              <a:t>適用空間：40-50坪二樓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50592" y="3291839"/>
            <a:ext cx="6858000" cy="256032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87168" y="33101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業態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3310127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坪數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3101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月租金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3310127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0592" y="3566160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3611879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老人會館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36118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30坪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8032" y="3611879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NT$8,000+補助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3611879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社區定錨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50592" y="3867911"/>
            <a:ext cx="68580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87168" y="391363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快剪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391363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10坪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8032" y="3913631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NT$15,000/月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91363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導流長輩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50592" y="4169663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421538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走道廁所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4215383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10坪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28032" y="421538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44768" y="421538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公共設施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5168" y="335584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964"/>
                </a:solidFill>
              </a:rPr>
              <a:t>月租金合計：約 NT$23,000（另有補助可申請）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50592" y="4315968"/>
            <a:ext cx="9052560" cy="274320"/>
          </a:xfrm>
          <a:prstGeom prst="rect">
            <a:avLst/>
          </a:prstGeom>
          <a:solidFill>
            <a:srgbClr val="00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2032" y="4334256"/>
            <a:ext cx="8869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社區型定位：強化社區形象，長輩每日消費蔬果，適合重社區連結的業主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791456"/>
            <a:ext cx="2103120" cy="1691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495604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方案 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" y="54498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82"/>
                </a:solidFill>
              </a:rPr>
              <a:t>精品 ＋ 讀書室 ＋ 快剪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23160" y="4791456"/>
            <a:ext cx="9144000" cy="1691640"/>
          </a:xfrm>
          <a:prstGeom prst="rect">
            <a:avLst/>
          </a:prstGeom>
          <a:solidFill>
            <a:srgbClr val="F9FB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42032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</a:rPr>
              <a:t>適用空間：60坪以上二樓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50592" y="5138928"/>
            <a:ext cx="6858000" cy="2560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87168" y="5157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業態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60" y="515721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坪數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8032" y="5157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月租金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515721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50592" y="5413248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87168" y="54589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精品/飾品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4760" y="545896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15坪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28032" y="54589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NT$15,000/月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44768" y="54589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提升客層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50592" y="5715000"/>
            <a:ext cx="685800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87168" y="57607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讀書室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94760" y="576072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20坪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28032" y="576072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NT$28,000/月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44768" y="57607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穩定客流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50592" y="6016752"/>
            <a:ext cx="6858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87168" y="60624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快剪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4760" y="60624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10坪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28032" y="606247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NT$18,000/月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606247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高頻導流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45168" y="520293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1B9A"/>
                </a:solidFill>
              </a:rPr>
              <a:t>月租金合計：約 NT$61,000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50592" y="6163056"/>
            <a:ext cx="9052560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42032" y="6181344"/>
            <a:ext cx="8869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全客層覆蓋：學生、主婦、長輩三族群同時吸引，最大化人流多樣性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整合財務模型｜升級方案月損益試算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一樓攤位租金 ＋ 二樓租金 ＋ 自營蔬果主攤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假設：7攤出租（月租NT$78,000）+ 二樓方案A快剪+讀書室（月租NT$55,000）+ 自營蔬果主攤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3949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月收入來源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5394960" cy="457200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一樓攤位租金（7攤）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11680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NT$78,000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01168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穩定固定收入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95728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8716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二樓快剪租金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4871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NT$20,000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穩定固定收入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71216"/>
            <a:ext cx="5394960" cy="457200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二樓讀書室（訂閱）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962656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NT$35,000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296265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30席×NT$1,200/月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46704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38144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自營蔬果主攤營業額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438144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NT$300,000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343814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一樓自留攤位主營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22191"/>
            <a:ext cx="5394960" cy="457200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13631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自營蔬果毛利(32%)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913631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5E20"/>
                </a:solidFill>
              </a:rPr>
              <a:t>NT$ 96,000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3913631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毛利額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25112"/>
            <a:ext cx="539496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月總可用收入（租金+毛利）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F17"/>
                </a:solidFill>
              </a:rPr>
              <a:t>NT$229,000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554480"/>
            <a:ext cx="548640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581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📉 月固定支出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920240"/>
            <a:ext cx="54864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2011680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整棟租金（一+二樓）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011680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62828"/>
                </a:solidFill>
              </a:rPr>
              <a:t>NT$120,000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2" y="201168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假設兩層合租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395728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48716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人事費（主攤2人）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2487168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62828"/>
                </a:solidFill>
              </a:rPr>
              <a:t>NT$ 80,000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1592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老闆+2員工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871216"/>
            <a:ext cx="54864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962656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水電費（共用）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2962656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62828"/>
                </a:solidFill>
              </a:rPr>
              <a:t>NT$ 22,000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51592" y="296265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含冷藏+公共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346704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438144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攤位管理維護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3438144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62828"/>
                </a:solidFill>
              </a:rPr>
              <a:t>NT$  8,000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51592" y="343814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清潔/設備維護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3822191"/>
            <a:ext cx="54864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3913631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行銷/雜支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3913631"/>
            <a:ext cx="1508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62828"/>
                </a:solidFill>
              </a:rPr>
              <a:t>NT$  8,000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51592" y="3913631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社群+活動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325112"/>
            <a:ext cx="54864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月固定支出合計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4370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NT$238,000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892040"/>
            <a:ext cx="11521440" cy="1325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937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6BB6A"/>
                </a:solidFill>
              </a:rPr>
              <a:t>升級方案月損益概估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349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自營需達月營收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6235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F17"/>
                </a:solidFill>
              </a:rPr>
              <a:t>NT$31萬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0533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E6C9"/>
                </a:solidFill>
              </a:rPr>
              <a:t>（原53-65萬，降低42%）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0128" y="5349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全模式月淨利(基準)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0128" y="56235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</a:rPr>
              <a:t>NT$+8,000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0128" y="60533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E6C9"/>
                </a:solidFill>
              </a:rPr>
              <a:t>（達基準即盈利）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3056" y="5349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開店啟動成本增加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63056" y="56235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E082"/>
                </a:solidFill>
              </a:rPr>
              <a:t>+NT$80–150萬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3056" y="60533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E6C9"/>
                </a:solidFill>
              </a:rPr>
              <a:t>（二樓裝潢+設備）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15984" y="5349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預估回本期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15984" y="56235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</a:rPr>
              <a:t>24–36個月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15984" y="60533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E6C9"/>
                </a:solidFill>
              </a:rPr>
              <a:t>（整體含二樓投資）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升級方案 SWOT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攤位出租制 ＋ 二樓複合空間 策略評估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76072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 優勢 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7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租金收入降低損益平衡門檻，風險分散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多業態共同引流，相互加乘客流效益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讀書室/老人會館建立社區日常據點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快剪等高頻業態確保穩定每日人流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攤位制可引進優質攤主，豐富商品種類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押金收入改善初期現金流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7607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 劣勢 Weaknesses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35607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二樓裝潢與設備成本增加80-150萬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攤位招租需時間，初期可能有空攤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多攤主管理複雜度提升，需訂立管理規約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需同時管理多種租賃關係（法律風險）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二樓人流不確定，各業態導流效益待驗證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若有二樓，整棟租金增加（約5-7萬/月）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023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 機會 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61688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48055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台鐵平鎮站2026年啟用，周邊人流大增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複合市集為台灣近年商業模式顯學（成功案例多）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老人會館可申請桃園市長照社造補助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讀書室在考試/備考族群需求持續成長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攤位可吸引新創小農/食品微型創業者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複合商圈特色化，媒體報導與口碑傳播力強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77639"/>
            <a:ext cx="5760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023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 威脅 Threats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61688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5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攤位租賃合約糾紛（攤主違規/拖欠租金）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若招不到適合攤主，空攤期損失租金收入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二樓業態若定位不佳，反成閒置空間負擔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整棟租金若調漲，整體成本壓力倍增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多業態管理需要更多業主精力與管理技能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12121"/>
                </a:solidFill>
              </a:rPr>
              <a:t>◆ 競爭者複製模式，差異化優勢縮短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攤位招商策略與管理規範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特約出租加盟制度設計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2356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33856"/>
            <a:ext cx="5440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📣 招商策略（攤位招募）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623560" cy="3291840"/>
          </a:xfrm>
          <a:prstGeom prst="rect">
            <a:avLst/>
          </a:prstGeom>
          <a:solidFill>
            <a:srgbClr val="F9FBE7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53492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目標攤主：在地小農、有品牌意識的微型食品創業者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招募管道：桃園市農會、社群（FB在地社團）、傳單發放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面試篩選：重視衛生習慣、服務態度、商品差異性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優先引入：有機認證、產地直送、有故事性的攤主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試營期：前2個月試攤，租金7折，雙方互相評估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目標：開幕前1個月完成7攤招租率≥80%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5943600" cy="3657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133856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攤位管理規約（重點條款）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63040"/>
            <a:ext cx="5943600" cy="3291840"/>
          </a:xfrm>
          <a:prstGeom prst="rect">
            <a:avLst/>
          </a:prstGeom>
          <a:solidFill>
            <a:srgbClr val="F9FBE7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72768"/>
            <a:ext cx="566928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業態獨家性：同類商品不得重複（蔬菜、水果各限1攤）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統一開關店時間：週一至日 07:00–20:00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環境衛生：每日清潔攤位，定期抽查，違規累計警告制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統一收銀系統：使用共用POS，租賃費分攤透明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商品品質標準：蔬果品質基準由主辦方統一訂定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廣告管理：統一視覺設計，不得私自懸掛不雅廣告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糾紛處理：設置攤主委員會，重大問題共同決議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92040"/>
            <a:ext cx="115214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⚖ 法律合規重點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766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⚠ 需簽訂「場地租賃暨特約加盟協議書」（建議委請律師審閱）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833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⚠ 攤主需自行辦理商業登記或個人執業登記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3766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⚠ 食品類攤位需取得食品業者登錄證，並確認食品安全衛生規範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833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⚠ 二樓讀書室需取得公共場所使用執照（視規模）；老人會館依長照法規申請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三大方案綜合比較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純自營 vs 攤位出租 vs 複合市集（含二樓）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評估項目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124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方案A：純自營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12471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方案B：一樓攤位制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1247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方案C：複合市集+二樓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36192"/>
            <a:ext cx="11521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276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啟動資金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62763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NT$250–400萬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NT$250–400萬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627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NT$380–600萬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93391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848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每月固定成本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0848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NT$17.2萬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2084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NT$17.2萬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0848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NT$23.8萬（含二樓）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50591"/>
            <a:ext cx="11521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5420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租金/授權收入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54203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3288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+NT$7.8萬/月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5420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+NT$13.3萬/月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07791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992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損益平衡月營收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299923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NT$53–65萬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2999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NT$31萬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9992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NT$25萬（自營部分）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64991"/>
            <a:ext cx="11521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456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人流吸引力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345643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★★☆☆☆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3456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★★★☆☆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3456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★★★★★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22191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9136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管理複雜度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39136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★☆☆☆☆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3288" y="39136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★★★☆☆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39136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★★★★☆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79392"/>
            <a:ext cx="11521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3708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社區黏著度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43708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★★☆☆☆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4370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★★★☆☆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43708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★★★★★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36592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8280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收益來源多元性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368" y="48280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單一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3288" y="48280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雙元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7928" y="48280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多元（4+種）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93792"/>
            <a:ext cx="1152144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2852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風險分散程度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44368" y="52852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33288" y="52852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7928" y="52852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650992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7424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預估回本期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44368" y="57424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18–30個月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3288" y="57424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7F17"/>
                </a:solidFill>
              </a:rPr>
              <a:t>15–24個月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67928" y="57424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24–36個月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108192"/>
            <a:ext cx="1152144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619963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整體推薦評分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6199631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65分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3288" y="61996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78分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67928" y="61996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88分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※ 方案C需確認二樓空間可取得（自有或可另租）；若無二樓則選方案B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升級方案執行路線圖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複合市集從規劃到開幕的關鍵里程碑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07208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-6 → -4 月
籌備期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807208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25328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確認二樓空間是否可取得、評估租金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完成攤位平面規劃設計（委請設計師）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制訂攤位特約合作協議書（法律審閱）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開始攤主招募（FB/農會/LINE社群）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申請食品業者相關證照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確認二樓業態組合（快剪/讀書室）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097280"/>
            <a:ext cx="2807208" cy="5943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1155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-3 → -1 月
建設期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91640"/>
            <a:ext cx="2807208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828800"/>
            <a:ext cx="25328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一樓裝潢施工（冷藏設備、攤位隔間）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二樓裝潢施工（依業態需求）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攤位招租完成（目標7攤&gt;80%簽約）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建立POS共用系統、門禁管理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LINE官方帳號開通，社群預熱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申請桃園市老人會館/社造補助（若適用）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2807208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1155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第 1 → 3 月
開幕期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691640"/>
            <a:ext cx="2807208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828800"/>
            <a:ext cx="25328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盛大開幕（邀請里長、農夫、媒體）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「認識攤主」活動，建立人情感連結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每日SOP即期品管理執行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追蹤各攤位動銷率，輔導攤主調整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LINE群組累積300位會員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第3個月財務健診（出租率/毛利/人流）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097280"/>
            <a:ext cx="2807208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1155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第 4 → 12 月
成長期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691640"/>
            <a:ext cx="2807208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828800"/>
            <a:ext cx="25328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引入第一批VIP金葉會員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評估讀書室訂閱人數，達30席80%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老人會館定期活動穩定（每週3次）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快剪導流效益確認（月來客達標）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年底財務審查：各業態貢獻度分析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評估是否擴充或調整業態組合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73952"/>
            <a:ext cx="1152144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核心KPI：出租率≥85% ／ 月自營達30萬 ／ 綜合月損益轉正 ／ VIP人數月增10人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總結與決策建議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升級方案可行性結論與行動建議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7772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結論：攤位出租 ＋ 二樓複合業態 顯著提升可行性，強烈建議採用升級方案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BB6A"/>
                </a:solidFill>
              </a:rPr>
              <a:t>綜合評分從65分（純自營）提升至88分（複合市集），損益門檻降低42%，風險分散效果顯著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623560" cy="3657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48256"/>
            <a:ext cx="5440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關鍵決策前置確認事項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5623560" cy="2560320"/>
          </a:xfrm>
          <a:prstGeom prst="rect">
            <a:avLst/>
          </a:prstGeom>
          <a:solidFill>
            <a:srgbClr val="F9FBE7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487168"/>
            <a:ext cx="534924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【空間確認】是否有二樓可用空間？（自有 or 可另與房東協商租用）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【資金確認】預算是否可支應升級版啟動成本（約380-600萬）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【時間確認】業主是否有足夠時間管理多攤位、多租戶複合業態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【法務確認】特約合作協議書、食品/場地執照等合規事項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【招商確認】是否有人脈或資源可預先招募到合適攤主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011680"/>
            <a:ext cx="5943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048256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三步驟行動建議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377440"/>
            <a:ext cx="5943600" cy="2560320"/>
          </a:xfrm>
          <a:prstGeom prst="rect">
            <a:avLst/>
          </a:prstGeom>
          <a:solidFill>
            <a:srgbClr val="F9FBE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487168"/>
            <a:ext cx="566928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STEP 1：與房東確認二樓使用可行性，取得租金條件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STEP 2：委請設計師出攤位+樓層平面規劃圖（預算2-3萬）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STEP 3：試算資金缺口，申請青創貸款或尋找共同投資夥伴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若有二樓 → 直接採方案C（複合市集+二樓）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若無二樓 → 採方案B（一樓攤位出租制）仍優於純自營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24242"/>
                </a:solidFill>
              </a:rPr>
              <a:t>▶ 兩種方案均優於原純自營方案，建議擇一推進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115214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932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升級方案關鍵財務指標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486400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486400"/>
            <a:ext cx="26974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攤位月租收入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83387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NT$7.8萬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7攤出租（穩定）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2968" y="5486400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72968" y="5486400"/>
            <a:ext cx="26974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4408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二樓月租收入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583387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NT$5.5萬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408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快剪+讀書室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25896" y="5486400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25896" y="5486400"/>
            <a:ext cx="26974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損益門檻降低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583387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－42%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7336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僅需NT$31萬自營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78824" y="5486400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78824" y="5486400"/>
            <a:ext cx="26974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0263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整體推薦評分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0263" y="583387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88 / 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0263" y="6291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vs 純自營65分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感謝閱覽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BB6A"/>
                </a:solidFill>
              </a:rPr>
              <a:t>複合市集升級方案 — 攤位出租制 ＋ 二樓複合空間 評估報告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06040"/>
            <a:ext cx="4507992" cy="6400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攤位出租制：7攤月租NT$7.8萬，損益門檻降低42%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二樓方案A（推薦）：快剪+讀書室，月租NT$5.5萬，引流效果最強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複合方案整體評分 88/100，顯著優於純自營（65分）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關鍵下一步：確認二樓空間可行性，委請設計師出規劃圖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E6C9"/>
                </a:solidFill>
              </a:rPr>
              <a:t>本報告資料截至 2026年5月｜數據來源：桃園市政府、財政部、業界公開資訊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5508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 ·  僅供內部決策使用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