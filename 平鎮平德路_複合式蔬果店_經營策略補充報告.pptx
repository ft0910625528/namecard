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複合式蔬果店 — 經營策略補充報告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BB6A"/>
                </a:solidFill>
              </a:rPr>
              <a:t>桃園市平鎮區平德路 271 號 1 樓｜店面約 50 坪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2377440"/>
            <a:ext cx="5239512" cy="54864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5303520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697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  可行性評估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5303520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6974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  行銷模式規劃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5303520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611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  VIP 定義與制度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5303520" cy="71323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6118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D  即期商品銷售評定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6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E6C9"/>
                </a:solidFill>
              </a:rPr>
              <a:t>評估日期：2026年5月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 ·  僅供內部決策使用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A｜可行性評估（一）：五力評估框架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全面檢視本案開店的可行條件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3502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市場需求可行性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71600"/>
            <a:ext cx="502920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4425696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7160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88分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792224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平鎮區人口22.8萬、住宅密集，生鮮蔬果日常剛性需求高，市場基礎穩固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3591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財務可行性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95728"/>
            <a:ext cx="502920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2395728"/>
            <a:ext cx="3118104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9572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7F17"/>
                </a:solidFill>
              </a:rPr>
              <a:t>62分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816352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啟動資金249-401萬，需月營收53-65萬達損益平衡，風險中等，需嚴格財務管控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218688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383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競爭可行性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3419856"/>
            <a:ext cx="502920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960" y="3419856"/>
            <a:ext cx="2766060" cy="38404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1985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7F17"/>
                </a:solidFill>
              </a:rPr>
              <a:t>55分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840480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全聯、家樂福等強勢競爭，差異化複合業態為突破口，競爭壓力偏高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242816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4074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營運可行性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4443984"/>
            <a:ext cx="502920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08960" y="4443984"/>
            <a:ext cx="377190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4439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75分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4864608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50坪空間可完整分區，複合業態可行，關鍵在供應鏈與庫存管理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266944"/>
            <a:ext cx="2743200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4315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地點可行性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468112"/>
            <a:ext cx="5029200" cy="38404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08960" y="5468112"/>
            <a:ext cx="35204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546811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D32"/>
                </a:solidFill>
              </a:rPr>
              <a:t>70分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0" y="5888736"/>
            <a:ext cx="8732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24242"/>
                </a:solidFill>
              </a:rPr>
              <a:t>1樓臨路、住宅密集，台鐵站2026年啟用利多，但全聯覆蓋率高需差異化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355080"/>
            <a:ext cx="1152144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38251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綜合可行性評分：70 / 100｜結論：條件成立，建議在強化差異化策略後進行，風險可控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A｜可行性評估（二）：財務敏感度分析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不同情境下的月損益預測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指標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悲觀情境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基準情境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143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樂觀情境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143000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達標條件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115214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00784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月營收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700784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NT$35萬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1700784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NT$55萬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1700784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NT$75萬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1700784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日客60人×$350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31136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35915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毛利率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235915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235915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32%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35915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38%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82328" y="2359152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熟食佔比&gt;30%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89504"/>
            <a:ext cx="115214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17520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毛利額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7168" y="30175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NT$8.75萬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8888" y="30175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NT$17.6萬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8" y="3017520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NT$28.5萬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8" y="3017520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47872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675887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固定成本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87168" y="3675887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NT$17.2萬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3675887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NT$17.2萬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3675887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NT$17.2萬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82328" y="3675887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租金+人事+水電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06240"/>
            <a:ext cx="115214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334255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月損益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87168" y="4334255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▼ -8.45萬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18888" y="4334255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▲ +0.4萬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334255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▲ +11.3萬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4334255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864607"/>
            <a:ext cx="115214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992623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年化損益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4992623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▼ -101萬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8888" y="4992623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▲ +4.8萬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4992623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▲ +135萬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82328" y="4992623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522976"/>
            <a:ext cx="1152144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5650992"/>
            <a:ext cx="2057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5E20"/>
                </a:solidFill>
              </a:rPr>
              <a:t>回本預估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87168" y="565099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無法回本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565099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約30個月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50608" y="5650992"/>
            <a:ext cx="22128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約18個月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2328" y="5650992"/>
            <a:ext cx="21762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基準以上可行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24242"/>
                </a:solidFill>
              </a:rPr>
              <a:t>※ 固定成本：租金5.5萬+人事8萬+水電1.8萬+雜支1.9萬=17.2萬；回本期以開店總成本300萬計算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A｜可行性評估（三）：成功關鍵條件 (KSF)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本案能否成功的決定性因素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88920" cy="43891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24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7F17"/>
                </a:solidFill>
              </a:rPr>
              <a:t>KSF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247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差異化商品力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36192"/>
            <a:ext cx="2788920" cy="475488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64208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熟食現做（便當/沙拉/滷味）佔業績30%以上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在地農夫直供、季節蔬果、有機專區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獨家選品（台灣在地品種、無農藥認證）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每週推出特色蔬果組合包（150-200元）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097280"/>
            <a:ext cx="2788920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124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KSF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11247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社區深耕能力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8688" y="1536192"/>
            <a:ext cx="2788920" cy="4754880"/>
          </a:xfrm>
          <a:prstGeom prst="rect">
            <a:avLst/>
          </a:prstGeom>
          <a:solidFill>
            <a:srgbClr val="F9FB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5848" y="1664208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建立LINE社群，定期推播當日菜價與特價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與附近里辦公室、學校合作團購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老主顧識別服務（認臉打招呼、記住偏好）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節慶禮盒、年菜預購深化情感連結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097280"/>
            <a:ext cx="2788920" cy="43891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1124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KSF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11247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財務紀律管控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536192"/>
            <a:ext cx="2788920" cy="4754880"/>
          </a:xfrm>
          <a:prstGeom prst="rect">
            <a:avLst/>
          </a:prstGeom>
          <a:solidFill>
            <a:srgbClr val="F9FBE7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664208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進貨量控制在日銷售預測95%以內，降低耗損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前6個月設月目標里程碑，低於標準立即調整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熟食轉換即期品，不浪費不折損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帳款每週結算，現金流透明管理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097280"/>
            <a:ext cx="2788920" cy="43891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12471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KSF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1124712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營運效率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07424" y="1536192"/>
            <a:ext cx="2788920" cy="4754880"/>
          </a:xfrm>
          <a:prstGeom prst="rect">
            <a:avLst/>
          </a:prstGeom>
          <a:solidFill>
            <a:srgbClr val="F9FBE7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1664208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2名員工分工：生鮮備料+熟食製作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POS庫存系統追蹤動銷率，精準採購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開店前2小時完成蔬果陳列補貨</a:t>
            </a:r>
          </a:p>
          <a:p>
            <a:pPr>
              <a:spcBef>
                <a:spcPts val="900"/>
              </a:spcBef>
            </a:pPr>
            <a:r>
              <a:rPr sz="1150">
                <a:solidFill>
                  <a:srgbClr val="212121"/>
                </a:solidFill>
              </a:rPr>
              <a:t>▶ 供應商關係：3家以上分散風險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B｜行銷模式規劃（一）：整體行銷策略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4P + 社區行銷 + 數位整合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2356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🥦 Product — 商品策略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623560" cy="23957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349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核心品類：每日新鮮蔬果（60%）、熟食便當（20%）、乾雜有機（20%）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週特選：3-5款主打蔬果，搭配食譜卡陳列，提升客單價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季節限定組合包：年節禮盒、補充包、蔬菜箱訂閱制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自有品牌：簡易醃漬品/調味包貼牌，提升毛利與識別度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594360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1247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💰 Price — 定價策略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44752"/>
            <a:ext cx="5943600" cy="239572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669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蔬果定價比全聯高5-10%，但強調新鮮度與在地性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熟食便當：NT$70-120（平鎮工薪族可負擔帶走區間）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會員優惠：VIP折扣5%、積點換贈品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即期蔬果：下架前以5-7折出售，減少耗損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77639"/>
            <a:ext cx="562356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00507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📍 Place — 通路策略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25112"/>
            <a:ext cx="5623560" cy="23500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434840"/>
            <a:ext cx="5349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實體店為核心：1樓臨路，主動製造香氣吸客（熟食區靠近門口）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LINE官方帳號：每日菜單、特價推播，支援預購自取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Uber Eats / foodpanda 外送上架（熟食便當）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社區宅配：半徑500m 內，滿NT$500免費送達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977639"/>
            <a:ext cx="594360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40050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📣 Promotion — 促銷策略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325112"/>
            <a:ext cx="5943600" cy="23500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443484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開幕期（1-3月）：買NT$500送50元折扣券，首購禮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每週二「週中特惠日」：特定蔬果85折吸引平日回流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每月「農夫日」：邀請供應農夫到場互動、試吃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與學校/辦公室合作：午餐便當團購、蔬菜箱訂閱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B｜行銷模式規劃（二）：社群與數位行銷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低成本高觸及的在地數位行銷計畫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8892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LINE 官方帳號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2788920" cy="434340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每日早7點推播：今日特價蔬果+便當菜單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「菜市場直播」：每週一次10分鐘直播開箱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預購功能：熟食便當前一天訂，省等待時間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會員折扣碼發送、生日優惠自動推播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目標：開業3個月內累積300位好友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097280"/>
            <a:ext cx="278892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Facebook 粉絲頁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508760"/>
            <a:ext cx="2788920" cy="4343400"/>
          </a:xfrm>
          <a:prstGeom prst="rect">
            <a:avLst/>
          </a:prstGeom>
          <a:solidFill>
            <a:srgbClr val="F9FB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627632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在地社團加入曝光（平鎮生活社群、桃園媽媽團）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每週發布「產地故事」貼文，建立品牌溫度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顧客打卡贈小禮（一週一次抽獎活動）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投放社區定向廣告：半徑1.5km、預算NT$500/週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目標：開業6個月內累積500粉絲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278892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Google 商家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508760"/>
            <a:ext cx="2788920" cy="4343400"/>
          </a:xfrm>
          <a:prstGeom prst="rect">
            <a:avLst/>
          </a:prstGeom>
          <a:solidFill>
            <a:srgbClr val="F9FBE7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627632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立即登錄Google商家，設定完整營業資訊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蒐集5星評價：開幕首月鼓勵顧客留評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定期上傳商品照、活動照，提升搜尋排名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回覆每一則評論，展現服務溫度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目標：3個月內累積50則好評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097280"/>
            <a:ext cx="278892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17152" y="1115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外送平台整合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508760"/>
            <a:ext cx="2788920" cy="4343400"/>
          </a:xfrm>
          <a:prstGeom prst="rect">
            <a:avLst/>
          </a:prstGeom>
          <a:solidFill>
            <a:srgbClr val="F9FBE7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627632"/>
            <a:ext cx="2514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Uber Eats / foodpanda 上架熟食便當品項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設定午餐尖峰（11-13點）外送接單優先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外送專屬組合：便當+蔬果沙拉套餐優惠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外送收入可彌補店面閒時，提升坪效</a:t>
            </a:r>
          </a:p>
          <a:p>
            <a:pPr>
              <a:spcBef>
                <a:spcPts val="900"/>
              </a:spcBef>
            </a:pPr>
            <a:r>
              <a:rPr sz="1100">
                <a:solidFill>
                  <a:srgbClr val="212121"/>
                </a:solidFill>
              </a:rPr>
              <a:t>▶ 目標：開業2個月內上架並達月外送50單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961888"/>
            <a:ext cx="1152144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007608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行銷預算建議：開幕期 NT$8,000-12,000/月（含廣告+活動）；穩定期縮減至 NT$4,000-6,000/月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B｜行銷模式規劃（三）：年度行銷活動日曆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12個月主題行銷節點規劃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8288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農曆年節
預購禮盒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1991" y="109728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1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1991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13432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情人節
有機蔬果禮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9663" y="1097280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3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9663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3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春季
在地蔬果節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097280"/>
            <a:ext cx="182880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5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17336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5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清明
春耕採買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1097280"/>
            <a:ext cx="182880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8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65008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母親節
蔬果禮盒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12680" y="1097280"/>
            <a:ext cx="182880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1143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12680" y="150876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19" y="164591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夏至
冷食沙拉季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520439"/>
            <a:ext cx="182880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夏季
補充元氣週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21991" y="3520439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67711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21991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13432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中元
感恩回饋日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9663" y="3520439"/>
            <a:ext cx="18288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15383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9663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3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中秋
蔬果禮組合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17336" y="3520439"/>
            <a:ext cx="1828800" cy="41148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63055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10月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17336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8775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秋季
根莖類特賣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3520439"/>
            <a:ext cx="182880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10728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11月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65008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56448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感恩
社區日活動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012680" y="3520439"/>
            <a:ext cx="182880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35661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12月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12680" y="3931920"/>
            <a:ext cx="1828800" cy="1920240"/>
          </a:xfrm>
          <a:prstGeom prst="rect">
            <a:avLst/>
          </a:prstGeom>
          <a:solidFill>
            <a:srgbClr val="F9FBE7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04119" y="4069079"/>
            <a:ext cx="16459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</a:rPr>
              <a:t>歲末
年菜預購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6053328"/>
            <a:ext cx="11521440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099048"/>
            <a:ext cx="11155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每月固定活動：★ 每週二特惠日  ★ 每月農夫到場日  ★ 每季新品發表  ★ 每季VIP積點兌換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C｜VIP 定義（一）：會員制度架構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三級會員制度設計與升等條件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3749039" cy="53035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🌱 綠葉會員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173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BB6A"/>
                </a:solidFill>
              </a:rPr>
              <a:t>一般會員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3749039" cy="4892040"/>
          </a:xfrm>
          <a:prstGeom prst="rect">
            <a:avLst/>
          </a:prstGeom>
          <a:solidFill>
            <a:srgbClr val="F9FBE7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719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入會門檻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免費加入（消費滿NT$200首次）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32"/>
                </a:solidFill>
              </a:rPr>
              <a:t>累積優惠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670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每消費NT$100 → 1點（1點=1元折抵）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154680"/>
            <a:ext cx="352044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✦ 專屬福利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74720"/>
            <a:ext cx="3474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生日當月兌換禮物（蔬果組合包）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每週特價短訊/LINE通知優先收到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購物滿NT$800免費贈送1項蔬菜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會員專屬小農直購價（部分品項）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3749039" cy="53035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🌿 金葉會員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173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BB6A"/>
                </a:solidFill>
              </a:rPr>
              <a:t>進階會員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627632"/>
            <a:ext cx="3749039" cy="4892040"/>
          </a:xfrm>
          <a:prstGeom prst="rect">
            <a:avLst/>
          </a:prstGeom>
          <a:solidFill>
            <a:srgbClr val="F9FBE7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719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</a:rPr>
              <a:t>升等條件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單季累積消費滿 NT$3,000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F17"/>
                </a:solidFill>
              </a:rPr>
              <a:t>累積優惠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2670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每消費NT$100 → 1.5點，有效期12個月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3154680"/>
            <a:ext cx="3520440" cy="2743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17296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✦ 專屬福利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474720"/>
            <a:ext cx="3474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全品項享9.5折優惠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每月一次「金葉專屬」新品優先試吃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生日禮升級（熟食便當+蔬果禮盒）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優先接受節慶禮盒預購限量名額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1097280"/>
            <a:ext cx="3749039" cy="5303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11155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👑 白金會員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8" y="14173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E082"/>
                </a:solidFill>
              </a:rPr>
              <a:t>頂級VIP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1627632"/>
            <a:ext cx="3749039" cy="4892040"/>
          </a:xfrm>
          <a:prstGeom prst="rect">
            <a:avLst/>
          </a:prstGeom>
          <a:solidFill>
            <a:srgbClr val="F9FBE7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17190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升等條件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1965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單年累積消費滿 NT$15,000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24231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A1B9A"/>
                </a:solidFill>
              </a:rPr>
              <a:t>累積優惠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20" y="2670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每消費NT$100 → 2點，永久有效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154680"/>
            <a:ext cx="3520440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172968"/>
            <a:ext cx="3337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✦ 專屬福利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74720"/>
            <a:ext cx="3474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全品項享9折，含熟食便當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每週免費配送蔬果箱（半徑500m內）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專屬客服專線/LINE一對一服務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農場參訪邀請、私廚體驗活動優先報名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◆ 年終回饋：依消費總額給予5%購物金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C｜VIP 定義（二）：積點兌換與升降等規則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積點制度明細與會員管理機制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2356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🎯 積點規則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623560" cy="312724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3492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基礎積點：每消費NT$100 = 1點（綠葉）/ 1.5點（金葉）/ 2點（白金）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點數有效期：綠葉6個月、金葉12個月、白金永久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加碼積點：週二特惠日雙倍點、生日月三倍點、農夫日活動加1點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點數不得轉讓，不可折現，不與其他折扣同時使用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每次最少可兌換100點（NT$100折抵），無上限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594360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1247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⬆ 升等條件（滾動計算）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44752"/>
            <a:ext cx="5943600" cy="312724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669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綠葉→金葉：任一季度（3個月）累計消費滿 NT$3,000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金葉→白金：任一年度（12個月）累計消費滿 NT$15,000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升等即時生效，當日起享新等級福利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升等後下一週期重新起算消費額，不影響已累積點數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季度：以自然季度計算（1-3月、4-6月、7-9月、10-12月）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709160"/>
            <a:ext cx="5623560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473659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⬇ 降等與維持條件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56632"/>
            <a:ext cx="5623560" cy="16642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5166360"/>
            <a:ext cx="5349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金葉維持：每半年消費滿 NT$1,500（未達→退回綠葉）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白金維持：每年消費滿 NT$10,000（未達→退回金葉）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降等前30天LINE通知提醒，給予補消費機會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休眠帳號（12個月未消費）：點數清零但等級保留6個月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4709160"/>
            <a:ext cx="5943600" cy="34747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473659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會員KPI目標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5056632"/>
            <a:ext cx="5943600" cy="16642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516636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開業6個月：綠葉200人、金葉30人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開業12個月：綠葉500人、金葉80人、白金10人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VIP顧客貢獻度目標：占總業績40%以上</a:t>
            </a:r>
          </a:p>
          <a:p>
            <a:pPr algn="l">
              <a:spcBef>
                <a:spcPts val="500"/>
              </a:spcBef>
            </a:pPr>
            <a:r>
              <a:rPr sz="1200">
                <a:solidFill>
                  <a:srgbClr val="424242"/>
                </a:solidFill>
              </a:rPr>
              <a:t>● 每月一次會員回顧：分析消費行為、動態調整福利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D｜即期商品銷售評定（一）：定義與分級機制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蔬果即期品的科學管理與分級處置標準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11521440" cy="65836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【定義】即期商品：預估在24-72小時內將影響外觀品質或食用安全，但目前仍可安全食用的蔬果生鮮品項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47088"/>
            <a:ext cx="1152144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8366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等級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836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品相狀態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836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剩餘時效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8366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處置方式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8836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折扣幅度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86000"/>
            <a:ext cx="11521440" cy="960120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286000"/>
            <a:ext cx="114300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245059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 級
尚鮮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2377440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外觀完整，輕微色澤變化，
無明顯軟化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254203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</a:rPr>
              <a:t>48-72h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235915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即期特賣區獨立陳列，明顯標示
「今日嚴選特惠」，保持整齊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42248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</a:rPr>
              <a:t>85折 (約-15%)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291840"/>
            <a:ext cx="115214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291840"/>
            <a:ext cx="1143000" cy="9601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" y="345643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 級
近效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3383280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輕微脫水、部分葉片軟化，
仍可食用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8728" y="354787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7F17"/>
                </a:solidFill>
              </a:rPr>
              <a:t>24-48h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36499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熟食加工轉換（炒菜料理包、
醃漬品）或低價清倉袋裝販售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7F17"/>
                </a:solidFill>
              </a:rPr>
              <a:t>65-75折 (約-30%)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297680"/>
            <a:ext cx="11521440" cy="960120"/>
          </a:xfrm>
          <a:prstGeom prst="rect">
            <a:avLst/>
          </a:prstGeom>
          <a:solidFill>
            <a:srgbClr val="F9F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297680"/>
            <a:ext cx="1143000" cy="9601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" y="446227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 級
待處理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0472" y="4389120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明顯軟化、部分腐爛，
但可切除可食部位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455371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</a:rPr>
              <a:t>&lt; 24h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56048" y="437083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當日熟食烹調使用（員工餐或
外賣便當配菜）；不可對外銷售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4526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62828"/>
                </a:solidFill>
              </a:rPr>
              <a:t>不對外售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303520"/>
            <a:ext cx="115214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5303520"/>
            <a:ext cx="1143000" cy="96012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" y="5468112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 級
淘汰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0472" y="5394960"/>
            <a:ext cx="1965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腐爛、發霉、有異味，
不可食用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38728" y="5559552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616161"/>
                </a:solidFill>
              </a:rPr>
              <a:t>已超期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5376672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立即下架隔離，登記耗損紀錄，
環保分類廚餘處理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42248" y="5532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16161"/>
                </a:solidFill>
              </a:rPr>
              <a:t>報廢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D｜即期商品銷售評定（二）：操作流程與財務效益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標準化即期品管理流程與損耗控制目標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62356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24712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⏰ 日常即期品檢查流程（SOP）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44752"/>
            <a:ext cx="5623560" cy="34930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554480"/>
            <a:ext cx="5349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開店前（7:30）：全面檢查昨日未售出蔬果，依A/B/C/D分級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A級品：移至「今日特惠區」，換上特價標籤，社群推播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B級品：立即轉入熟食備料（醃漬/炒料包），當日完成轉換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C/D級：填寫「耗損記錄表」，當日結算損失金額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收店後（20:00）：明日預估動銷量，調整次日進貨量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每週彙整：耗損率超過10%需提交改善方案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097280"/>
            <a:ext cx="5943600" cy="347472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9048" y="11247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💡 即期品轉換創意方案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44752"/>
            <a:ext cx="5943600" cy="3493008"/>
          </a:xfrm>
          <a:prstGeom prst="rect">
            <a:avLst/>
          </a:prstGeom>
          <a:solidFill>
            <a:srgbClr val="F9FBE7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56692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「今日小農嚴選袋」：即期蔬果混搭，NT$99/袋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「養生湯品材料包」：根莖類即期品組合，NT$129/包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「炒菜料理包」：切好洗淨的即期菜，熟食轉換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員工福利包：C級品分給員工帶回，提升人心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與鄰近里老人共餐合作：B/C級品公益捐贈，塑造品牌形象</a:t>
            </a:r>
          </a:p>
          <a:p>
            <a:pPr algn="l">
              <a:spcBef>
                <a:spcPts val="500"/>
              </a:spcBef>
            </a:pPr>
            <a:r>
              <a:rPr sz="1100">
                <a:solidFill>
                  <a:srgbClr val="424242"/>
                </a:solidFill>
              </a:rPr>
              <a:t>● 「明日蔬菜箱」預購：隔日現採但需當天完售，零耗損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47488"/>
            <a:ext cx="115214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📊 即期品管理財務目標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504688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5504688"/>
            <a:ext cx="26974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目標耗損率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82472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≤ 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63093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業界標準10-15%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5504688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72968" y="5504688"/>
            <a:ext cx="26974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64408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A級轉售率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582472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≥ 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63093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即期品仍可創收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25896" y="5504688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25896" y="5504688"/>
            <a:ext cx="26974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17336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B級轉換率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17336" y="582472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≥ 80%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7336" y="63093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熟食彌補損失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8824" y="5504688"/>
            <a:ext cx="2697480" cy="1207008"/>
          </a:xfrm>
          <a:prstGeom prst="rect">
            <a:avLst/>
          </a:prstGeom>
          <a:solidFill>
            <a:srgbClr val="F9FBE7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78824" y="5504688"/>
            <a:ext cx="269748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70263" y="5577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24242"/>
                </a:solidFill>
              </a:rPr>
              <a:t>月耗損金額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0263" y="582472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</a:rPr>
              <a:t>≤ NT$8,000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3" y="6309359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24242"/>
                </a:solidFill>
              </a:rPr>
              <a:t>占進貨成本4%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總結｜綜合行動計畫與時程表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6BB6A"/>
                </a:solidFill>
              </a:rPr>
              <a:t>四大主題整合推進時程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278892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15568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籌備期
（-3 → 0 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91640"/>
            <a:ext cx="2788920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810512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完成50坪裝潢與設備採購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建立供應商合作（3家以上）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申請LINE官方帳號、Google商家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設定POS系統與庫存管理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制訂VIP制度、點數系統上線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即期品SOP文件制定完成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097280"/>
            <a:ext cx="2788920" cy="59436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115568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開幕期
（1 → 3 月）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91640"/>
            <a:ext cx="2788920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1810512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開幕優惠：買千送百、免費加入會員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LINE社群開放，目標300位好友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每週農夫到場日活動啟動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即期品每日SOP執行並記錄耗損率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Uber Eats熟食便當上架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每月評估財務達成率（KPI追蹤）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97280"/>
            <a:ext cx="2788920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115568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成長期
（4 → 12 月）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691640"/>
            <a:ext cx="2788920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810512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金葉VIP升等首批名單，辦升等禮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推出「蔬菜箱訂閱制」穩定現金流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有機/溯源專區獨立陳列上架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社區辦公室、學校便當合作洽談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即期轉換率達80%以上為目標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半年財務審查，決策是否擴充熟食區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1097280"/>
            <a:ext cx="278892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98864" y="1115568"/>
            <a:ext cx="2633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深化期
（13 → 24 月）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691640"/>
            <a:ext cx="2788920" cy="4709160"/>
          </a:xfrm>
          <a:prstGeom prst="rect">
            <a:avLst/>
          </a:prstGeom>
          <a:solidFill>
            <a:srgbClr val="F9FBE7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4584" y="1810512"/>
            <a:ext cx="2514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白金VIP首批認定，舉辦農場體驗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評估第二店址（台鐵平鎮站附近）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品牌自有醃漬/調味品上市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OMO整合：APP或LINE訂購全流程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年度損益達月淨利10%以上</a:t>
            </a:r>
          </a:p>
          <a:p>
            <a:pPr>
              <a:spcBef>
                <a:spcPts val="800"/>
              </a:spcBef>
            </a:pPr>
            <a:r>
              <a:rPr sz="1100">
                <a:solidFill>
                  <a:srgbClr val="212121"/>
                </a:solidFill>
              </a:rPr>
              <a:t>▶ 申請在地優良商店或有機認證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6492240"/>
            <a:ext cx="11521440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每季檢核：財務達成率 / VIP人數成長 / 耗損率 / 社群觸及 — 未達標即啟動應對措施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感謝閱覽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60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6BB6A"/>
                </a:solidFill>
              </a:rPr>
              <a:t>複合式蔬果店經營策略補充報告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2606040"/>
            <a:ext cx="4507992" cy="64008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83464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可行性評估：綜合評分70/100，財務敏感度明確，KSF清晰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行銷策略：4P + 社群數位整合，低成本高觸及在地行銷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84048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VIP制度：三級會員、積點兌換、升降等機制完整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43400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✅ 即期商品：ABCD分級SOP，目標耗損率≤8%，轉換創收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1663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8E6C9"/>
                </a:solidFill>
              </a:rPr>
              <a:t>本報告資料截至 2026年5月｜數據來源：桃園市政府、財政部、業界公開資訊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400800"/>
            <a:ext cx="1218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CONFIDENTIAL  ·  僅供內部決策使用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