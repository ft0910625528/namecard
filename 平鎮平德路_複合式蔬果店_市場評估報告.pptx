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複合式蔬果店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66BB6A"/>
                </a:solidFill>
              </a:rPr>
              <a:t>選址市場評估報告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697480"/>
            <a:ext cx="5760720" cy="457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📍 桃園市平鎮區平德路 271 號 1 樓｜店面約 50 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6BB6A"/>
                </a:solidFill>
              </a:rPr>
              <a:t>評估日期：2026年5月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60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8E6C9"/>
                </a:solidFill>
              </a:rPr>
              <a:t>包含：商圈分析 ｜ 競爭態勢 ｜ 消費潛力 ｜ 財務試算 ｜ SWOT ｜ 開店建議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26364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CONFIDENTIAL  ·  僅供內部決策使用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報告目錄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</a:rPr>
              <a:t>市場評估報告架構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94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777240" cy="1143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5331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7160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地點概況與商圈環境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23160"/>
            <a:ext cx="5394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423160"/>
            <a:ext cx="777240" cy="1143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679191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697479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區域人口與消費力分析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49039"/>
            <a:ext cx="5394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749039"/>
            <a:ext cx="777240" cy="1143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00507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023359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競爭對手調查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074920"/>
            <a:ext cx="5394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5074920"/>
            <a:ext cx="777240" cy="1143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33095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34924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台灣複合式蔬果店市場趨勢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097280"/>
            <a:ext cx="5394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097280"/>
            <a:ext cx="777240" cy="1143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35331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137160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財務估算與損益試算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423160"/>
            <a:ext cx="5394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423160"/>
            <a:ext cx="777240" cy="1143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2679191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697479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SWOT 分析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749039"/>
            <a:ext cx="5394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749039"/>
            <a:ext cx="777240" cy="1143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400507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023359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風險評估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074920"/>
            <a:ext cx="5394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5074920"/>
            <a:ext cx="777240" cy="1143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533095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534924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總結建議與開店策略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01｜地點概況與商圈環境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</a:rPr>
              <a:t>桃園市平鎮區平德路 271 號 1 樓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39496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7043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📌 地點基本資訊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90472"/>
            <a:ext cx="5394960" cy="2852928"/>
          </a:xfrm>
          <a:prstGeom prst="rect">
            <a:avLst/>
          </a:prstGeom>
          <a:solidFill>
            <a:srgbClr val="F9FBE7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51206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地址：桃園市平鎮區平德路 271 號 1 樓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店面坪數：約 50 坪（約 165 m²）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行政區：平鎮區（平德里附近）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道路性質：平德路為平鎮區主要生活道路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樓層：1 樓臨路店面，能見度佳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業種定位：複合式蔬果店（生鮮+加工+熟食）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1143000"/>
            <a:ext cx="594360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07608" y="117043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🏘️ 周邊環境概況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1490472"/>
            <a:ext cx="5943600" cy="2852928"/>
          </a:xfrm>
          <a:prstGeom prst="rect">
            <a:avLst/>
          </a:prstGeom>
          <a:solidFill>
            <a:srgbClr val="F9FBE7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600200"/>
            <a:ext cx="56692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半徑 500m 內：密集住宅社區、公寓大樓群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鄰近平鎮區主要生活幹道，交通流量穩定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周邊有學校、里民活動中心等公共設施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商業型態以傳統零售、便利商店為主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步行購物需求高，騎機車族為主要客群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平鎮區總面積 47.75 km²，商業集中於北部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480560"/>
            <a:ext cx="11521440" cy="1920240"/>
          </a:xfrm>
          <a:prstGeom prst="rect">
            <a:avLst/>
          </a:prstGeom>
          <a:solidFill>
            <a:srgbClr val="F9FBE7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480560"/>
            <a:ext cx="1152144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5079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🌟 地點優勢亮點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19472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5E20"/>
                </a:solidFill>
              </a:rPr>
              <a:t>✔ 1樓臨路，購物動線自然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4919472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5E20"/>
                </a:solidFill>
              </a:rPr>
              <a:t>✔ 平德路為住宅區幹道，來客流量穩定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919472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5E20"/>
                </a:solidFill>
              </a:rPr>
              <a:t>✔ 50坪空間可完整陳列生鮮+複合商品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4919472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5E20"/>
                </a:solidFill>
              </a:rPr>
              <a:t>✔ 鄰近住宅密集，回購率高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02｜區域人口與消費力分析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</a:rPr>
              <a:t>平鎮區人口結構與消費潛力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1945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219456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7043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平鎮區總人口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17319"/>
            <a:ext cx="2011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5E20"/>
                </a:solidFill>
              </a:rPr>
              <a:t>22.8萬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195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2025年估計（桃園市第三大區）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39" y="1097280"/>
            <a:ext cx="21945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39" y="1097280"/>
            <a:ext cx="219456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79" y="117043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總戶數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79" y="1417319"/>
            <a:ext cx="2011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5E20"/>
                </a:solidFill>
              </a:rPr>
              <a:t>約9萬戶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79" y="190195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平均每戶2.5人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59" y="1097280"/>
            <a:ext cx="21945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37759" y="1097280"/>
            <a:ext cx="219456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199" y="117043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人口密度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199" y="1417319"/>
            <a:ext cx="2011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5E20"/>
                </a:solidFill>
              </a:rPr>
              <a:t>4,787人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199" y="190195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每平方公里（2020年）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79" y="1097280"/>
            <a:ext cx="21945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69479" y="1097280"/>
            <a:ext cx="219456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19" y="117043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近十年成長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19" y="1417319"/>
            <a:ext cx="2011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5E20"/>
                </a:solidFill>
              </a:rPr>
              <a:t>+8.4%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19" y="190195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高於全國平均成長率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1097280"/>
            <a:ext cx="21945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0" y="1097280"/>
            <a:ext cx="219456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117043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房價所得比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1417319"/>
            <a:ext cx="2011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5E20"/>
                </a:solidFill>
              </a:rPr>
              <a:t>8.65倍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190195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桃園市（相對台北市15.4倍低）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514600"/>
            <a:ext cx="56692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2542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👨‍👩‍👧 人口結構特色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862072"/>
            <a:ext cx="5669280" cy="2852928"/>
          </a:xfrm>
          <a:prstGeom prst="rect">
            <a:avLst/>
          </a:prstGeom>
          <a:solidFill>
            <a:srgbClr val="F9FBE7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79" y="2971800"/>
            <a:ext cx="53949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以青壯年（25-45歲）家庭為主體，對日用生鮮需求量大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雙薪家庭比例高，追求便利、一站購足購物體驗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外來移入人口持續增加，新住民比例高於全市平均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中低收入家庭為主，對價格敏感，CP值導向消費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人口仍在成長，社區型零售市場具擴大潛力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2514600"/>
            <a:ext cx="56692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36208" y="2542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💰 消費力與購買行為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2862072"/>
            <a:ext cx="5669280" cy="2852928"/>
          </a:xfrm>
          <a:prstGeom prst="rect">
            <a:avLst/>
          </a:prstGeom>
          <a:solidFill>
            <a:srgbClr val="F9FBE7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2971800"/>
            <a:ext cx="53949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台灣2024年基本月薪 NT$27,470；薪資中位數約NT$36,000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桃園市房價所得比 8.65 倍，生活支出壓力低於北市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蔬果蛋奶為家庭每月必要支出，需求穩定、低彈性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平鎮居民習慣週末集中採購，週間補購模式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有機、在地、溯源意識漸強，願意為品質溢價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複合購物偏好：蔬果+乾貨+熟食一次完成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03｜競爭對手調查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</a:rPr>
              <a:t>平鎮區生鮮通路競爭態勢分析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97280"/>
            <a:ext cx="11704320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競爭者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14300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距離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143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業態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59" y="11430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規模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143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主要優勢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143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威脅程度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481328"/>
            <a:ext cx="11704320" cy="804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55448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全聯福利中心
（平鎮環南店）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155448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~1.2km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155448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連鎖超市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59" y="155448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大型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155448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品牌信任、低價策略、
完整商品線（含蔬果）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55448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62828"/>
                </a:solidFill>
              </a:rPr>
              <a:t>⚠ 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2304288"/>
            <a:ext cx="117043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237744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全聯福利中心
（平鎮育達店）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237744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~1.5km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237744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連鎖超市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59" y="237744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大型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237744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價格低廉、
行銷資源豐富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37744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62828"/>
                </a:solidFill>
              </a:rPr>
              <a:t>⚠ 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3127248"/>
            <a:ext cx="11704320" cy="804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320040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家樂福平鎮店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320040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~2.0km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320040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大型量販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59" y="320040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超大型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320040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一站購足、停車便利、
量販價格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32004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7F17"/>
                </a:solidFill>
              </a:rPr>
              <a:t>⚠ 中高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3950208"/>
            <a:ext cx="117043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402336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傳統攤販
（早市/夜市）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402336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~0.3km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0360" y="402336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傳統零售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51959" y="402336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小型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4920" y="40233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現撈現採、在地感、
議價空間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402336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7F17"/>
                </a:solidFill>
              </a:rPr>
              <a:t>⚠ 中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4773168"/>
            <a:ext cx="11704320" cy="804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48463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7-11 / 全家
便利商店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20" y="484632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周邊密布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80360" y="484632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便利商店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51959" y="484632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小型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74920" y="484632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24小時、便利性高、
沙拉/即食蔬果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60" y="484632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</a:rPr>
              <a:t>⚠ 低中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5596128"/>
            <a:ext cx="11704320" cy="804672"/>
          </a:xfrm>
          <a:prstGeom prst="rect">
            <a:avLst/>
          </a:prstGeom>
          <a:solidFill>
            <a:srgbClr val="F9F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566928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本計畫
複合式蔬果店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03120" y="566928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80360" y="566928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特色零售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51959" y="566928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中型50坪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74920" y="566928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在地特色、複合服務、
現切/熟食差異化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566928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自身定位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24242"/>
                </a:solidFill>
              </a:rPr>
              <a:t>※ 距離為概估值；複合式差異化是本案突破關鍵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04｜台灣複合式蔬果店市場趨勢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</a:rPr>
              <a:t>產業環境與商機洞察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57784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124712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📈 市場規模與成長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44752"/>
            <a:ext cx="5577840" cy="3767328"/>
          </a:xfrm>
          <a:prstGeom prst="rect">
            <a:avLst/>
          </a:prstGeom>
          <a:solidFill>
            <a:srgbClr val="F9FBE7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554480"/>
            <a:ext cx="53035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2024年台灣量販超市業合計營收突破 5,082 億元（年增 5.4%）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生鮮蔬果為超市主要客流引擎，每週到訪率達 60% 以上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有機蔬果市場年均成長 8-10%，消費主力為 30-50 歲家庭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2025年食品市場趨勢：健康、在地、溯源、便利一站購足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日系超市 LOPIA 進台灣不到2年，單月營收破億，熟食+生鮮雙引擎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097280"/>
            <a:ext cx="557784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1124712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🛒 複合式業態優勢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444752"/>
            <a:ext cx="5577840" cy="3767328"/>
          </a:xfrm>
          <a:prstGeom prst="rect">
            <a:avLst/>
          </a:prstGeom>
          <a:solidFill>
            <a:srgbClr val="F9FBE7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554480"/>
            <a:ext cx="53035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「複合式」=生鮮蔬果＋熟食便當＋有機專區＋乾貨雜糧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一次滿足「買菜＋帶便當」需求，提升客單價與回購率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熟食區毛利率高（約 55-65%），可彌補生鮮低毛利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差異化選品（在地農夫直供、季節限定）建立品牌忠誠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50坪空間足夠分區陳列，體驗感優於傳統菜攤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OMO 整合（LINE 訂購+自取）可延伸服務圈至 1.5km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349240"/>
            <a:ext cx="11521440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6BB6A"/>
                </a:solidFill>
              </a:rPr>
              <a:t>2025-2026 關鍵消費趨勢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5806440"/>
            <a:ext cx="260604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58338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🌱 減碳飲食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5806440"/>
            <a:ext cx="260604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9272" y="58338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🥗 蔬食增加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5806440"/>
            <a:ext cx="260604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53912" y="58338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📦 產地直送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5400" y="5806440"/>
            <a:ext cx="260604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88552" y="58338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💊 機能性蔬果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6172200"/>
            <a:ext cx="260604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" y="61996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📱 行動訂購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6172200"/>
            <a:ext cx="260604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9272" y="61996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♻ 低塑包裝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6172200"/>
            <a:ext cx="260604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53912" y="61996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🍱 即食熟食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05｜財務估算（一）：開店成本試算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</a:rPr>
              <a:t>50坪複合式蔬果店啟動資金需求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13232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43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成本項目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143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說明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1143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估算金額（萬元）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08760"/>
            <a:ext cx="7132320" cy="5120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裝潢工程費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600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牆面、地板、冷藏設備空間設計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87568" y="1600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7F17"/>
                </a:solidFill>
              </a:rPr>
              <a:t>80 – 120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039112"/>
            <a:ext cx="713232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13055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冷藏冷凍設備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1305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生鮮冷藏櫃、冷凍庫、蔬果保鮮冰台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1305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7F17"/>
                </a:solidFill>
              </a:rPr>
              <a:t>60 – 90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69463"/>
            <a:ext cx="7132320" cy="5120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660903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熟食設備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660903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加熱台、便當保溫設備、排油煙系統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2660903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7F17"/>
                </a:solidFill>
              </a:rPr>
              <a:t>20 – 35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099815"/>
            <a:ext cx="713232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319125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貨架/陳列器具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319125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蔬果斜面架、乾貨貨架、結帳台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87568" y="319125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7F17"/>
                </a:solidFill>
              </a:rPr>
              <a:t>15 – 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630168"/>
            <a:ext cx="7132320" cy="5120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3721607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POS系統/設備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372160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收銀系統、電子秤、條碼掃描器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87568" y="3721607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7F17"/>
                </a:solidFill>
              </a:rPr>
              <a:t>5 – 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160520"/>
            <a:ext cx="713232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42519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首批進貨備料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425195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蔬果、乾貨、熟食食材首批庫存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87568" y="425195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7F17"/>
                </a:solidFill>
              </a:rPr>
              <a:t>10 – 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690871"/>
            <a:ext cx="7132320" cy="5120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4782311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保證金（押金）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4782311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通常 3-6 個月租金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87568" y="4782311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7F17"/>
                </a:solidFill>
              </a:rPr>
              <a:t>24 – 48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221223"/>
            <a:ext cx="713232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" y="5312663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行政/開業費用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0440" y="5312663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執照申請、保險、開幕行銷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87568" y="5312663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7F17"/>
                </a:solidFill>
              </a:rPr>
              <a:t>5 – 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751575"/>
            <a:ext cx="7132320" cy="5120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" y="5843015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周轉預備金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20440" y="5843015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前3個月虧損緩衝（建議）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87568" y="5843015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7F17"/>
                </a:solidFill>
              </a:rPr>
              <a:t>30 – 50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6281928"/>
            <a:ext cx="7132320" cy="42062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" y="6309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合計估算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6309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7F17"/>
                </a:solidFill>
              </a:rPr>
              <a:t>NT$ 249 – 401 萬元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89520" y="1097280"/>
            <a:ext cx="4297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99248" y="11247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💡 資金規劃建議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89520" y="1444752"/>
            <a:ext cx="4297680" cy="4956048"/>
          </a:xfrm>
          <a:prstGeom prst="rect">
            <a:avLst/>
          </a:prstGeom>
          <a:solidFill>
            <a:srgbClr val="F9FBE7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26680" y="1554480"/>
            <a:ext cx="40233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建議自備資金至少 200 萬元，其餘搭配青創貸款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中小企業處青年創業貸款：最高 400 萬，優惠利率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裝潢優先考慮中古設備節省成本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冷藏設備為核心投資，不建議妥協品質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保留 30-50 萬周轉金，避免初期現金流斷鏈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平鎮區 50 坪店面月租約 NT$4-8 萬（依路段）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05｜財務估算（二）：月度損益試算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</a:rPr>
              <a:t>達到損益平衡所需條件分析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57784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247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📊 月固定成本估算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5577840" cy="4846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租金（50坪平鎮路面）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60020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24242"/>
                </a:solidFill>
              </a:rPr>
              <a:t>55,000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11680"/>
            <a:ext cx="55778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10312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人事（老闆+2員工）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10312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24242"/>
                </a:solidFill>
              </a:rPr>
              <a:t>80,000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14600"/>
            <a:ext cx="5577840" cy="4846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60604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水電費（含冷藏）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60604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24242"/>
                </a:solidFill>
              </a:rPr>
              <a:t>18,000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17520"/>
            <a:ext cx="55778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10896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進貨成本（月營收60%）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10896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24242"/>
                </a:solidFill>
              </a:rPr>
              <a:t>（變動）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520440"/>
            <a:ext cx="5577840" cy="4846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61188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包裝耗材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61188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24242"/>
                </a:solidFill>
              </a:rPr>
              <a:t>6,000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023360"/>
            <a:ext cx="55778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11480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行銷/維護費用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11480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24242"/>
                </a:solidFill>
              </a:rPr>
              <a:t>5,000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526280"/>
            <a:ext cx="5577840" cy="4846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61772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雜支/折舊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61772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24242"/>
                </a:solidFill>
              </a:rPr>
              <a:t>8,000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029200"/>
            <a:ext cx="5577840" cy="484632"/>
          </a:xfrm>
          <a:prstGeom prst="rect">
            <a:avLst/>
          </a:prstGeom>
          <a:solidFill>
            <a:srgbClr val="F9F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12064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固定成本小計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512064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B5E20"/>
                </a:solidFill>
              </a:rPr>
              <a:t>172,000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1097280"/>
            <a:ext cx="57607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11247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🎯 損益平衡分析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1508760"/>
            <a:ext cx="5760720" cy="4983480"/>
          </a:xfrm>
          <a:prstGeom prst="rect">
            <a:avLst/>
          </a:prstGeom>
          <a:solidFill>
            <a:srgbClr val="F9FBE7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9632" y="16002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蔬果生鮮毛利率（財政部標準）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16002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212121"/>
                </a:solidFill>
              </a:rPr>
              <a:t>約 15–25%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9632" y="207568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熟食/加工品毛利率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207568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212121"/>
                </a:solidFill>
              </a:rPr>
              <a:t>約 50–65%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9632" y="255117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綜合平均毛利率（估）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255117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212121"/>
                </a:solidFill>
              </a:rPr>
              <a:t>約 30–35%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9632" y="350215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損益平衡公式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350215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B5E20"/>
                </a:solidFill>
              </a:rPr>
              <a:t>固定成本 ÷ 毛利率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9632" y="397763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損益平衡月營收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397763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B5E20"/>
                </a:solidFill>
              </a:rPr>
              <a:t>NT$172,000 ÷ 32% ≈ 537,500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9632" y="492861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每日目標營收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492861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212121"/>
                </a:solidFill>
              </a:rPr>
              <a:t>537,500 ÷ 25天 ≈ NT$21,500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99632" y="540410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假設客單價 NT$250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540410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212121"/>
                </a:solidFill>
              </a:rPr>
              <a:t>需日來客約 86 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99632" y="58795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假設客單價 NT$350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0" y="587959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212121"/>
                </a:solidFill>
              </a:rPr>
              <a:t>需日來客約 61 人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3794760"/>
            <a:ext cx="5394960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3840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🎯 月營收目標：NT$ 53 – 65 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42519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BB6A"/>
                </a:solidFill>
              </a:rPr>
              <a:t>約 50 坪生鮮店的合理業績門檻（含熟食複合）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24242"/>
                </a:solidFill>
              </a:rPr>
              <a:t>※ 毛利率依據財政部113年度同業利潤標準；實際數字需依進貨議價調整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06｜SWOT 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</a:rPr>
              <a:t>本址開設複合式蔬果店之策略環境評估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5760720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 優勢 Strengths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35607"/>
            <a:ext cx="576072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55448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212121"/>
                </a:solidFill>
              </a:rPr>
              <a:t>◆ 1樓臨路，購物動線自然、可見度高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121"/>
                </a:solidFill>
              </a:rPr>
              <a:t>◆ 50坪空間充裕，可完整分區陳列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121"/>
                </a:solidFill>
              </a:rPr>
              <a:t>◆ 複合式業態（生鮮+熟食）差異化明顯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121"/>
                </a:solidFill>
              </a:rPr>
              <a:t>◆ 住宅密集區，高頻回購客群穩定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121"/>
                </a:solidFill>
              </a:rPr>
              <a:t>◆ 在地直供可降低進貨成本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51560"/>
            <a:ext cx="5760720" cy="38404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 劣勢 Weaknesses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35607"/>
            <a:ext cx="576072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212121"/>
                </a:solidFill>
              </a:rPr>
              <a:t>◆ 全聯、家樂福等大型通路競爭激烈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121"/>
                </a:solidFill>
              </a:rPr>
              <a:t>◆ 新品牌缺乏知名度，需時間建立信任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121"/>
                </a:solidFill>
              </a:rPr>
              <a:t>◆ 冷藏設備投資與電費成本高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121"/>
                </a:solidFill>
              </a:rPr>
              <a:t>◆ 生鮮品耗損率高（損耗約 8-15%）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121"/>
                </a:solidFill>
              </a:rPr>
              <a:t>◆ 初期客流不穩定，資金壓力大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77639"/>
            <a:ext cx="57607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402335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 機會 Opportunities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361688"/>
            <a:ext cx="576072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4480559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212121"/>
                </a:solidFill>
              </a:rPr>
              <a:t>◆ 台鐵平鎮站預計2026年5月啟用，人流增加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121"/>
                </a:solidFill>
              </a:rPr>
              <a:t>◆ 桃園捷運橘線規劃中，未來區域升值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121"/>
                </a:solidFill>
              </a:rPr>
              <a:t>◆ 平鎮人口持續成長（近十年+8.4%）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121"/>
                </a:solidFill>
              </a:rPr>
              <a:t>◆ 健康飲食風潮，有機蔬果年均成長 8-10%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121"/>
                </a:solidFill>
              </a:rPr>
              <a:t>◆ 電商整合（LINE訂購）可擴大服務範圍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977639"/>
            <a:ext cx="576072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402335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 威脅 Threats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361688"/>
            <a:ext cx="576072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480559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212121"/>
                </a:solidFill>
              </a:rPr>
              <a:t>◆ 全聯福利中心持續拓點、強化生鮮陳列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121"/>
                </a:solidFill>
              </a:rPr>
              <a:t>◆ 通貨膨脹推高食材與租金成本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121"/>
                </a:solidFill>
              </a:rPr>
              <a:t>◆ 傳統菜市場仍是在地消費習慣核心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121"/>
                </a:solidFill>
              </a:rPr>
              <a:t>◆ 外送平台壓縮實體店客流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121"/>
                </a:solidFill>
              </a:rPr>
              <a:t>◆ 蔬果產地氣候風險影響供應穩定性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07｜風險評估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</a:rPr>
              <a:t>主要風險因子與對應緩解策略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97280"/>
            <a:ext cx="11704320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風險類別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143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風險描述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1430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等級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14300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緩解策略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508760"/>
            <a:ext cx="11704320" cy="7863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160020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競爭風險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563624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全聯、家樂福強力競爭，
蠶食生鮮客群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38928" y="1673351"/>
            <a:ext cx="777240" cy="43891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8928" y="1691639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6752" y="156362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差異化：熟食現做、在地農夫直供、有機專區；
主打社區情感連結與個人化服務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313432"/>
            <a:ext cx="11704320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2404872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財務風險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2368296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初期客流不穩定，
現金流壓力大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38928" y="2478024"/>
            <a:ext cx="777240" cy="43891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8928" y="2496312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16752" y="2368296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保留50萬以上緩衝資金；
前6個月設定損益評估里程碑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3118104"/>
            <a:ext cx="11704320" cy="7863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" y="3209544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耗損風險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3172968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蔬果日耗損率8-15%，
增加固定損失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38928" y="3282696"/>
            <a:ext cx="777240" cy="438912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38928" y="3300984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16752" y="3172968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精準採購（小量多次）、熟食轉換耗損品、
導入庫存管理系統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3922776"/>
            <a:ext cx="11704320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" y="4014215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租金風險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3977639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租金上漲影響固定成本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38928" y="4087368"/>
            <a:ext cx="777240" cy="438912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38928" y="4105656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16752" y="3977639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爭取3-5年租約鎖定租金；
增加複合品類提高坪效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4727448"/>
            <a:ext cx="11704320" cy="7863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2608" y="4818888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供應鏈風險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19" y="4782312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氣候、颱風影響
蔬果供應與價格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38928" y="4892040"/>
            <a:ext cx="777240" cy="438912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38928" y="4910328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16752" y="478231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建立多元供應商；季節預備乾貨
暨加工品彌補缺貨期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5532120"/>
            <a:ext cx="11704320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8" y="562356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人力風險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74519" y="5586984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員工流動率高，
熟食技術人員難覓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38928" y="5696712"/>
            <a:ext cx="777240" cy="4389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38928" y="5715000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低中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16752" y="558698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提供市場薪資＋業績獎金；
簡化熟食製程（半成品加工）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08｜總結建議與開店策略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</a:rPr>
              <a:t>評估結論與行動計畫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521440" cy="960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✅  整體評估：地點條件中等偏好，建議審慎評估後進行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</a:rPr>
              <a:t>平鎮區人口穩定成長、消費需求明確，本址具備基礎條件，關鍵在差異化策略與財務紀律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94560"/>
            <a:ext cx="3749039" cy="47548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212848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🚀 短期 (0–6個月)
開幕建立期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97480"/>
            <a:ext cx="3749039" cy="3291840"/>
          </a:xfrm>
          <a:prstGeom prst="rect">
            <a:avLst/>
          </a:prstGeom>
          <a:solidFill>
            <a:srgbClr val="F9FBE7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816352"/>
            <a:ext cx="34747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50">
                <a:solidFill>
                  <a:srgbClr val="212121"/>
                </a:solidFill>
              </a:rPr>
              <a:t>▶ 以「平德路在地好菜」為品牌定位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212121"/>
                </a:solidFill>
              </a:rPr>
              <a:t>▶ 開幕前1個月社群預熱（LINE社群/FB）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212121"/>
                </a:solidFill>
              </a:rPr>
              <a:t>▶ 提供開幕優惠（買千送百、蔬果試吃）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212121"/>
                </a:solidFill>
              </a:rPr>
              <a:t>▶ 建立社區會員制，儲值送蔬果禮盒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212121"/>
                </a:solidFill>
              </a:rPr>
              <a:t>▶ 每日現場直播蔬果開箱、農場溯源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194560"/>
            <a:ext cx="3749039" cy="47548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2212848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📈 中期 (7–18個月)
穩定獲利期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697480"/>
            <a:ext cx="3749039" cy="3291840"/>
          </a:xfrm>
          <a:prstGeom prst="rect">
            <a:avLst/>
          </a:prstGeom>
          <a:solidFill>
            <a:srgbClr val="F9FBE7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816352"/>
            <a:ext cx="34747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50">
                <a:solidFill>
                  <a:srgbClr val="212121"/>
                </a:solidFill>
              </a:rPr>
              <a:t>▶ 擴充熟食便當區（提升毛利至35%以上）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212121"/>
                </a:solidFill>
              </a:rPr>
              <a:t>▶ 引入有機/在地農夫直供專區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212121"/>
                </a:solidFill>
              </a:rPr>
              <a:t>▶ 推動LINE訂購+自取外送服務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212121"/>
                </a:solidFill>
              </a:rPr>
              <a:t>▶ 申請農產品有機認證資格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212121"/>
                </a:solidFill>
              </a:rPr>
              <a:t>▶ 達月營收60萬、淨利10%為里程碑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2194560"/>
            <a:ext cx="3749039" cy="47548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212848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🏆 長期 (19個月以上)
品牌深化期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697480"/>
            <a:ext cx="3749039" cy="3291840"/>
          </a:xfrm>
          <a:prstGeom prst="rect">
            <a:avLst/>
          </a:prstGeom>
          <a:solidFill>
            <a:srgbClr val="F9FBE7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2816352"/>
            <a:ext cx="34747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50">
                <a:solidFill>
                  <a:srgbClr val="212121"/>
                </a:solidFill>
              </a:rPr>
              <a:t>▶ 配合台鐵平鎮站啟用擴大商圈影響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212121"/>
                </a:solidFill>
              </a:rPr>
              <a:t>▶ 考慮設置二店（鄰近社區）或加盟模式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212121"/>
                </a:solidFill>
              </a:rPr>
              <a:t>▶ 建立季節預購訂閱盒（蔬菜箱）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212121"/>
                </a:solidFill>
              </a:rPr>
              <a:t>▶ 深化社區關係（與里辦公室合作）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212121"/>
                </a:solidFill>
              </a:rPr>
              <a:t>▶ 評估取得健康食品/有機店認證提升形象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6080760"/>
            <a:ext cx="11521440" cy="6400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1081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啟動資金：約 250–400 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61081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損益平衡月營收：NT$53–65 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61081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建議日來客：60–90 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61081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預估回本期：18–30 個月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感謝閱覽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6BB6A"/>
                </a:solidFill>
              </a:rPr>
              <a:t>桃園市平鎮區平德路 271 號 複合式蔬果店 選址評估報告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2971800"/>
            <a:ext cx="4873752" cy="457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291840"/>
            <a:ext cx="8531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地點條件：中等偏好（住宅密集、交通便利）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767328"/>
            <a:ext cx="8531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市場需求：生鮮蔬果日常需求穩定、複合業態具差異化優勢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242816"/>
            <a:ext cx="8531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⚠  主要挑戰：全聯等連鎖超市競爭激烈，需明確差異化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718304"/>
            <a:ext cx="8531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💡 核心建議：在地品牌＋熟食複合＋社區深耕為成功關鍵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406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8E6C9"/>
                </a:solidFill>
              </a:rPr>
              <a:t>本報告資料截至 2026年5月｜數據來源：桃園市政府、財政部、業界公開資訊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